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sldIdLst>
    <p:sldId id="256" r:id="rId2"/>
    <p:sldId id="257" r:id="rId3"/>
    <p:sldId id="258" r:id="rId4"/>
    <p:sldId id="259" r:id="rId5"/>
    <p:sldId id="260" r:id="rId6"/>
    <p:sldId id="261" r:id="rId7"/>
    <p:sldId id="262" r:id="rId8"/>
    <p:sldId id="263" r:id="rId9"/>
    <p:sldId id="264" r:id="rId10"/>
    <p:sldId id="270"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3CDDF3-5EC2-C1A7-065A-CC9A6050B492}" v="1420" dt="2025-11-02T23:16:33.074"/>
    <p1510:client id="{A6DCEA78-6393-37B1-DA50-854606D1CE46}" v="839" dt="2025-11-03T04:14:18.9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1097DB-912D-4A01-9B54-9B647C12308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F2153DA-1F02-46ED-8556-EA1B76C7BBCB}">
      <dgm:prSet/>
      <dgm:spPr/>
      <dgm:t>
        <a:bodyPr/>
        <a:lstStyle/>
        <a:p>
          <a:r>
            <a:rPr lang="en-US"/>
            <a:t>Stations</a:t>
          </a:r>
        </a:p>
      </dgm:t>
    </dgm:pt>
    <dgm:pt modelId="{BBCC77B5-08D4-4A13-BB89-C7E5B0DB6BB1}" type="parTrans" cxnId="{E2C7414C-ECA8-4868-BCBD-FF7ED4816345}">
      <dgm:prSet/>
      <dgm:spPr/>
      <dgm:t>
        <a:bodyPr/>
        <a:lstStyle/>
        <a:p>
          <a:endParaRPr lang="en-US"/>
        </a:p>
      </dgm:t>
    </dgm:pt>
    <dgm:pt modelId="{718461CC-39BA-421A-B88E-3F712936AFA6}" type="sibTrans" cxnId="{E2C7414C-ECA8-4868-BCBD-FF7ED4816345}">
      <dgm:prSet/>
      <dgm:spPr/>
      <dgm:t>
        <a:bodyPr/>
        <a:lstStyle/>
        <a:p>
          <a:endParaRPr lang="en-US"/>
        </a:p>
      </dgm:t>
    </dgm:pt>
    <dgm:pt modelId="{2AFC1747-92EF-4ACF-918A-8804107CB9CB}">
      <dgm:prSet/>
      <dgm:spPr/>
      <dgm:t>
        <a:bodyPr/>
        <a:lstStyle/>
        <a:p>
          <a:r>
            <a:rPr lang="en-US"/>
            <a:t>Routes</a:t>
          </a:r>
        </a:p>
      </dgm:t>
    </dgm:pt>
    <dgm:pt modelId="{87BE1EA4-48A7-49A0-A0B0-AB0246B14336}" type="parTrans" cxnId="{5010082E-4ACC-487C-B8B8-50E0E240E1AA}">
      <dgm:prSet/>
      <dgm:spPr/>
      <dgm:t>
        <a:bodyPr/>
        <a:lstStyle/>
        <a:p>
          <a:endParaRPr lang="en-US"/>
        </a:p>
      </dgm:t>
    </dgm:pt>
    <dgm:pt modelId="{528AC7A6-8A8C-409A-BCCE-1F0E3C55E86B}" type="sibTrans" cxnId="{5010082E-4ACC-487C-B8B8-50E0E240E1AA}">
      <dgm:prSet/>
      <dgm:spPr/>
      <dgm:t>
        <a:bodyPr/>
        <a:lstStyle/>
        <a:p>
          <a:endParaRPr lang="en-US"/>
        </a:p>
      </dgm:t>
    </dgm:pt>
    <dgm:pt modelId="{B7EC5141-67D7-4437-9D3F-139C455D5F0D}">
      <dgm:prSet/>
      <dgm:spPr/>
      <dgm:t>
        <a:bodyPr/>
        <a:lstStyle/>
        <a:p>
          <a:r>
            <a:rPr lang="en-US"/>
            <a:t>Customers</a:t>
          </a:r>
        </a:p>
      </dgm:t>
    </dgm:pt>
    <dgm:pt modelId="{92C0FEA9-09C1-4F1F-911E-C22904A3EFBD}" type="parTrans" cxnId="{26753B14-1071-4D35-A324-08E5990096F2}">
      <dgm:prSet/>
      <dgm:spPr/>
      <dgm:t>
        <a:bodyPr/>
        <a:lstStyle/>
        <a:p>
          <a:endParaRPr lang="en-US"/>
        </a:p>
      </dgm:t>
    </dgm:pt>
    <dgm:pt modelId="{69A122C5-2313-49E2-93F8-040559199D95}" type="sibTrans" cxnId="{26753B14-1071-4D35-A324-08E5990096F2}">
      <dgm:prSet/>
      <dgm:spPr/>
      <dgm:t>
        <a:bodyPr/>
        <a:lstStyle/>
        <a:p>
          <a:endParaRPr lang="en-US"/>
        </a:p>
      </dgm:t>
    </dgm:pt>
    <dgm:pt modelId="{101564D1-F256-4077-9E64-0BE32BB4841D}">
      <dgm:prSet/>
      <dgm:spPr/>
      <dgm:t>
        <a:bodyPr/>
        <a:lstStyle/>
        <a:p>
          <a:r>
            <a:rPr lang="en-US"/>
            <a:t>Payment_Methods</a:t>
          </a:r>
        </a:p>
      </dgm:t>
    </dgm:pt>
    <dgm:pt modelId="{326B2261-A82E-4C84-BF69-406A39EA647A}" type="parTrans" cxnId="{32100A94-4122-4D31-BFB0-7D8486CFFC0C}">
      <dgm:prSet/>
      <dgm:spPr/>
      <dgm:t>
        <a:bodyPr/>
        <a:lstStyle/>
        <a:p>
          <a:endParaRPr lang="en-US"/>
        </a:p>
      </dgm:t>
    </dgm:pt>
    <dgm:pt modelId="{DCE9FBF5-8C0D-484E-9A2B-B3FF26C938FB}" type="sibTrans" cxnId="{32100A94-4122-4D31-BFB0-7D8486CFFC0C}">
      <dgm:prSet/>
      <dgm:spPr/>
      <dgm:t>
        <a:bodyPr/>
        <a:lstStyle/>
        <a:p>
          <a:endParaRPr lang="en-US"/>
        </a:p>
      </dgm:t>
    </dgm:pt>
    <dgm:pt modelId="{E349C460-7905-49E1-88D4-BBFD81073903}">
      <dgm:prSet/>
      <dgm:spPr/>
      <dgm:t>
        <a:bodyPr/>
        <a:lstStyle/>
        <a:p>
          <a:r>
            <a:rPr lang="en-US"/>
            <a:t>Tickets</a:t>
          </a:r>
        </a:p>
      </dgm:t>
    </dgm:pt>
    <dgm:pt modelId="{13E93B32-E034-44AB-B727-CF1B8978610F}" type="parTrans" cxnId="{57E8277E-75C5-4DA5-AA69-B05125EEF4E5}">
      <dgm:prSet/>
      <dgm:spPr/>
      <dgm:t>
        <a:bodyPr/>
        <a:lstStyle/>
        <a:p>
          <a:endParaRPr lang="en-US"/>
        </a:p>
      </dgm:t>
    </dgm:pt>
    <dgm:pt modelId="{780D7FB1-7577-4762-AA78-E3D361138F3B}" type="sibTrans" cxnId="{57E8277E-75C5-4DA5-AA69-B05125EEF4E5}">
      <dgm:prSet/>
      <dgm:spPr/>
      <dgm:t>
        <a:bodyPr/>
        <a:lstStyle/>
        <a:p>
          <a:endParaRPr lang="en-US"/>
        </a:p>
      </dgm:t>
    </dgm:pt>
    <dgm:pt modelId="{91855716-4FFC-402A-AA16-6A775D3B1A37}">
      <dgm:prSet/>
      <dgm:spPr/>
      <dgm:t>
        <a:bodyPr/>
        <a:lstStyle/>
        <a:p>
          <a:r>
            <a:rPr lang="en-US"/>
            <a:t>Route_Costs</a:t>
          </a:r>
        </a:p>
      </dgm:t>
    </dgm:pt>
    <dgm:pt modelId="{6E937965-2C0D-467A-95ED-F718F16416FD}" type="parTrans" cxnId="{BAB1CEB7-F0A3-4A70-80C7-37D220A17946}">
      <dgm:prSet/>
      <dgm:spPr/>
      <dgm:t>
        <a:bodyPr/>
        <a:lstStyle/>
        <a:p>
          <a:endParaRPr lang="en-US"/>
        </a:p>
      </dgm:t>
    </dgm:pt>
    <dgm:pt modelId="{44FFA241-1FF7-4950-9D66-3806A0815C4F}" type="sibTrans" cxnId="{BAB1CEB7-F0A3-4A70-80C7-37D220A17946}">
      <dgm:prSet/>
      <dgm:spPr/>
      <dgm:t>
        <a:bodyPr/>
        <a:lstStyle/>
        <a:p>
          <a:endParaRPr lang="en-US"/>
        </a:p>
      </dgm:t>
    </dgm:pt>
    <dgm:pt modelId="{EE125BEB-E64C-4144-A5B8-72187EFC420B}" type="pres">
      <dgm:prSet presAssocID="{E21097DB-912D-4A01-9B54-9B647C12308B}" presName="linear" presStyleCnt="0">
        <dgm:presLayoutVars>
          <dgm:animLvl val="lvl"/>
          <dgm:resizeHandles val="exact"/>
        </dgm:presLayoutVars>
      </dgm:prSet>
      <dgm:spPr/>
    </dgm:pt>
    <dgm:pt modelId="{A10A4CAD-5D1A-4888-B17C-187FF62E381C}" type="pres">
      <dgm:prSet presAssocID="{EF2153DA-1F02-46ED-8556-EA1B76C7BBCB}" presName="parentText" presStyleLbl="node1" presStyleIdx="0" presStyleCnt="6">
        <dgm:presLayoutVars>
          <dgm:chMax val="0"/>
          <dgm:bulletEnabled val="1"/>
        </dgm:presLayoutVars>
      </dgm:prSet>
      <dgm:spPr/>
    </dgm:pt>
    <dgm:pt modelId="{77AC7076-2353-4B2F-A213-04118F1BAFA7}" type="pres">
      <dgm:prSet presAssocID="{718461CC-39BA-421A-B88E-3F712936AFA6}" presName="spacer" presStyleCnt="0"/>
      <dgm:spPr/>
    </dgm:pt>
    <dgm:pt modelId="{C8797ADB-26C3-4C7A-9D01-26ACC4D363F1}" type="pres">
      <dgm:prSet presAssocID="{2AFC1747-92EF-4ACF-918A-8804107CB9CB}" presName="parentText" presStyleLbl="node1" presStyleIdx="1" presStyleCnt="6">
        <dgm:presLayoutVars>
          <dgm:chMax val="0"/>
          <dgm:bulletEnabled val="1"/>
        </dgm:presLayoutVars>
      </dgm:prSet>
      <dgm:spPr/>
    </dgm:pt>
    <dgm:pt modelId="{32F49EEE-C8F2-478A-BA6C-6455DFE103B2}" type="pres">
      <dgm:prSet presAssocID="{528AC7A6-8A8C-409A-BCCE-1F0E3C55E86B}" presName="spacer" presStyleCnt="0"/>
      <dgm:spPr/>
    </dgm:pt>
    <dgm:pt modelId="{48B6AA04-A179-41A6-9199-B1D39F6A1798}" type="pres">
      <dgm:prSet presAssocID="{B7EC5141-67D7-4437-9D3F-139C455D5F0D}" presName="parentText" presStyleLbl="node1" presStyleIdx="2" presStyleCnt="6">
        <dgm:presLayoutVars>
          <dgm:chMax val="0"/>
          <dgm:bulletEnabled val="1"/>
        </dgm:presLayoutVars>
      </dgm:prSet>
      <dgm:spPr/>
    </dgm:pt>
    <dgm:pt modelId="{4C2B891D-38EB-4B71-A307-36F0258C052F}" type="pres">
      <dgm:prSet presAssocID="{69A122C5-2313-49E2-93F8-040559199D95}" presName="spacer" presStyleCnt="0"/>
      <dgm:spPr/>
    </dgm:pt>
    <dgm:pt modelId="{98FA3463-BBFF-4997-8F0D-97B2D5CC16C2}" type="pres">
      <dgm:prSet presAssocID="{101564D1-F256-4077-9E64-0BE32BB4841D}" presName="parentText" presStyleLbl="node1" presStyleIdx="3" presStyleCnt="6">
        <dgm:presLayoutVars>
          <dgm:chMax val="0"/>
          <dgm:bulletEnabled val="1"/>
        </dgm:presLayoutVars>
      </dgm:prSet>
      <dgm:spPr/>
    </dgm:pt>
    <dgm:pt modelId="{ABB0DA7E-4B4E-4847-B80E-5A714225B7A2}" type="pres">
      <dgm:prSet presAssocID="{DCE9FBF5-8C0D-484E-9A2B-B3FF26C938FB}" presName="spacer" presStyleCnt="0"/>
      <dgm:spPr/>
    </dgm:pt>
    <dgm:pt modelId="{15A54EAB-3142-4139-B9AD-9E75A71FBF10}" type="pres">
      <dgm:prSet presAssocID="{E349C460-7905-49E1-88D4-BBFD81073903}" presName="parentText" presStyleLbl="node1" presStyleIdx="4" presStyleCnt="6">
        <dgm:presLayoutVars>
          <dgm:chMax val="0"/>
          <dgm:bulletEnabled val="1"/>
        </dgm:presLayoutVars>
      </dgm:prSet>
      <dgm:spPr/>
    </dgm:pt>
    <dgm:pt modelId="{34A8ACEA-3B5C-4B3C-B9C7-89E6E91FA762}" type="pres">
      <dgm:prSet presAssocID="{780D7FB1-7577-4762-AA78-E3D361138F3B}" presName="spacer" presStyleCnt="0"/>
      <dgm:spPr/>
    </dgm:pt>
    <dgm:pt modelId="{634E74C5-7116-44D2-AFFD-6E84D16B4AB8}" type="pres">
      <dgm:prSet presAssocID="{91855716-4FFC-402A-AA16-6A775D3B1A37}" presName="parentText" presStyleLbl="node1" presStyleIdx="5" presStyleCnt="6">
        <dgm:presLayoutVars>
          <dgm:chMax val="0"/>
          <dgm:bulletEnabled val="1"/>
        </dgm:presLayoutVars>
      </dgm:prSet>
      <dgm:spPr/>
    </dgm:pt>
  </dgm:ptLst>
  <dgm:cxnLst>
    <dgm:cxn modelId="{2A0E9309-CC90-4DEE-B7CB-DDA8ADAE063E}" type="presOf" srcId="{EF2153DA-1F02-46ED-8556-EA1B76C7BBCB}" destId="{A10A4CAD-5D1A-4888-B17C-187FF62E381C}" srcOrd="0" destOrd="0" presId="urn:microsoft.com/office/officeart/2005/8/layout/vList2"/>
    <dgm:cxn modelId="{26753B14-1071-4D35-A324-08E5990096F2}" srcId="{E21097DB-912D-4A01-9B54-9B647C12308B}" destId="{B7EC5141-67D7-4437-9D3F-139C455D5F0D}" srcOrd="2" destOrd="0" parTransId="{92C0FEA9-09C1-4F1F-911E-C22904A3EFBD}" sibTransId="{69A122C5-2313-49E2-93F8-040559199D95}"/>
    <dgm:cxn modelId="{BFF07022-FD76-498A-AAF2-BA7B61152B83}" type="presOf" srcId="{E349C460-7905-49E1-88D4-BBFD81073903}" destId="{15A54EAB-3142-4139-B9AD-9E75A71FBF10}" srcOrd="0" destOrd="0" presId="urn:microsoft.com/office/officeart/2005/8/layout/vList2"/>
    <dgm:cxn modelId="{5010082E-4ACC-487C-B8B8-50E0E240E1AA}" srcId="{E21097DB-912D-4A01-9B54-9B647C12308B}" destId="{2AFC1747-92EF-4ACF-918A-8804107CB9CB}" srcOrd="1" destOrd="0" parTransId="{87BE1EA4-48A7-49A0-A0B0-AB0246B14336}" sibTransId="{528AC7A6-8A8C-409A-BCCE-1F0E3C55E86B}"/>
    <dgm:cxn modelId="{614A7B3C-7E6F-40E8-AEF1-BB7BF26107ED}" type="presOf" srcId="{2AFC1747-92EF-4ACF-918A-8804107CB9CB}" destId="{C8797ADB-26C3-4C7A-9D01-26ACC4D363F1}" srcOrd="0" destOrd="0" presId="urn:microsoft.com/office/officeart/2005/8/layout/vList2"/>
    <dgm:cxn modelId="{E2C7414C-ECA8-4868-BCBD-FF7ED4816345}" srcId="{E21097DB-912D-4A01-9B54-9B647C12308B}" destId="{EF2153DA-1F02-46ED-8556-EA1B76C7BBCB}" srcOrd="0" destOrd="0" parTransId="{BBCC77B5-08D4-4A13-BB89-C7E5B0DB6BB1}" sibTransId="{718461CC-39BA-421A-B88E-3F712936AFA6}"/>
    <dgm:cxn modelId="{7A0F6073-C866-442E-93A6-3F2D5E038694}" type="presOf" srcId="{91855716-4FFC-402A-AA16-6A775D3B1A37}" destId="{634E74C5-7116-44D2-AFFD-6E84D16B4AB8}" srcOrd="0" destOrd="0" presId="urn:microsoft.com/office/officeart/2005/8/layout/vList2"/>
    <dgm:cxn modelId="{57E8277E-75C5-4DA5-AA69-B05125EEF4E5}" srcId="{E21097DB-912D-4A01-9B54-9B647C12308B}" destId="{E349C460-7905-49E1-88D4-BBFD81073903}" srcOrd="4" destOrd="0" parTransId="{13E93B32-E034-44AB-B727-CF1B8978610F}" sibTransId="{780D7FB1-7577-4762-AA78-E3D361138F3B}"/>
    <dgm:cxn modelId="{B1BA378E-CF4A-4229-89FB-C0EEC7E9FB52}" type="presOf" srcId="{101564D1-F256-4077-9E64-0BE32BB4841D}" destId="{98FA3463-BBFF-4997-8F0D-97B2D5CC16C2}" srcOrd="0" destOrd="0" presId="urn:microsoft.com/office/officeart/2005/8/layout/vList2"/>
    <dgm:cxn modelId="{32100A94-4122-4D31-BFB0-7D8486CFFC0C}" srcId="{E21097DB-912D-4A01-9B54-9B647C12308B}" destId="{101564D1-F256-4077-9E64-0BE32BB4841D}" srcOrd="3" destOrd="0" parTransId="{326B2261-A82E-4C84-BF69-406A39EA647A}" sibTransId="{DCE9FBF5-8C0D-484E-9A2B-B3FF26C938FB}"/>
    <dgm:cxn modelId="{BAB1CEB7-F0A3-4A70-80C7-37D220A17946}" srcId="{E21097DB-912D-4A01-9B54-9B647C12308B}" destId="{91855716-4FFC-402A-AA16-6A775D3B1A37}" srcOrd="5" destOrd="0" parTransId="{6E937965-2C0D-467A-95ED-F718F16416FD}" sibTransId="{44FFA241-1FF7-4950-9D66-3806A0815C4F}"/>
    <dgm:cxn modelId="{82D273F3-E18C-473E-B5EF-9D5635B68D2C}" type="presOf" srcId="{E21097DB-912D-4A01-9B54-9B647C12308B}" destId="{EE125BEB-E64C-4144-A5B8-72187EFC420B}" srcOrd="0" destOrd="0" presId="urn:microsoft.com/office/officeart/2005/8/layout/vList2"/>
    <dgm:cxn modelId="{C9E4FEFC-FCF1-441D-8359-269C60FB92F5}" type="presOf" srcId="{B7EC5141-67D7-4437-9D3F-139C455D5F0D}" destId="{48B6AA04-A179-41A6-9199-B1D39F6A1798}" srcOrd="0" destOrd="0" presId="urn:microsoft.com/office/officeart/2005/8/layout/vList2"/>
    <dgm:cxn modelId="{30DCBF3C-50E1-453F-86EF-E18AA94AAA4F}" type="presParOf" srcId="{EE125BEB-E64C-4144-A5B8-72187EFC420B}" destId="{A10A4CAD-5D1A-4888-B17C-187FF62E381C}" srcOrd="0" destOrd="0" presId="urn:microsoft.com/office/officeart/2005/8/layout/vList2"/>
    <dgm:cxn modelId="{0B5D2452-A48C-4F96-A612-D4543DA1D82A}" type="presParOf" srcId="{EE125BEB-E64C-4144-A5B8-72187EFC420B}" destId="{77AC7076-2353-4B2F-A213-04118F1BAFA7}" srcOrd="1" destOrd="0" presId="urn:microsoft.com/office/officeart/2005/8/layout/vList2"/>
    <dgm:cxn modelId="{90AA63B1-0890-450F-96BA-D74F540E53F6}" type="presParOf" srcId="{EE125BEB-E64C-4144-A5B8-72187EFC420B}" destId="{C8797ADB-26C3-4C7A-9D01-26ACC4D363F1}" srcOrd="2" destOrd="0" presId="urn:microsoft.com/office/officeart/2005/8/layout/vList2"/>
    <dgm:cxn modelId="{1BF753D1-A855-40AD-8314-C24EF5582A23}" type="presParOf" srcId="{EE125BEB-E64C-4144-A5B8-72187EFC420B}" destId="{32F49EEE-C8F2-478A-BA6C-6455DFE103B2}" srcOrd="3" destOrd="0" presId="urn:microsoft.com/office/officeart/2005/8/layout/vList2"/>
    <dgm:cxn modelId="{A139BC5F-3A79-4162-AE9E-C84D8A15EAE3}" type="presParOf" srcId="{EE125BEB-E64C-4144-A5B8-72187EFC420B}" destId="{48B6AA04-A179-41A6-9199-B1D39F6A1798}" srcOrd="4" destOrd="0" presId="urn:microsoft.com/office/officeart/2005/8/layout/vList2"/>
    <dgm:cxn modelId="{F61204A9-0D2C-4DA9-934B-982274DB56AE}" type="presParOf" srcId="{EE125BEB-E64C-4144-A5B8-72187EFC420B}" destId="{4C2B891D-38EB-4B71-A307-36F0258C052F}" srcOrd="5" destOrd="0" presId="urn:microsoft.com/office/officeart/2005/8/layout/vList2"/>
    <dgm:cxn modelId="{D356614E-17CA-43A2-A9B3-C5FC93A0D5B1}" type="presParOf" srcId="{EE125BEB-E64C-4144-A5B8-72187EFC420B}" destId="{98FA3463-BBFF-4997-8F0D-97B2D5CC16C2}" srcOrd="6" destOrd="0" presId="urn:microsoft.com/office/officeart/2005/8/layout/vList2"/>
    <dgm:cxn modelId="{CC60C81F-4B24-46B8-A0C1-43CEB9ABAD84}" type="presParOf" srcId="{EE125BEB-E64C-4144-A5B8-72187EFC420B}" destId="{ABB0DA7E-4B4E-4847-B80E-5A714225B7A2}" srcOrd="7" destOrd="0" presId="urn:microsoft.com/office/officeart/2005/8/layout/vList2"/>
    <dgm:cxn modelId="{AEA092F4-4899-458C-9200-715F88B588AC}" type="presParOf" srcId="{EE125BEB-E64C-4144-A5B8-72187EFC420B}" destId="{15A54EAB-3142-4139-B9AD-9E75A71FBF10}" srcOrd="8" destOrd="0" presId="urn:microsoft.com/office/officeart/2005/8/layout/vList2"/>
    <dgm:cxn modelId="{8B7BF6F3-1064-427D-B4DE-266E2FFB3385}" type="presParOf" srcId="{EE125BEB-E64C-4144-A5B8-72187EFC420B}" destId="{34A8ACEA-3B5C-4B3C-B9C7-89E6E91FA762}" srcOrd="9" destOrd="0" presId="urn:microsoft.com/office/officeart/2005/8/layout/vList2"/>
    <dgm:cxn modelId="{BED3FC6B-DAA2-45B8-B42B-4671FA05C504}" type="presParOf" srcId="{EE125BEB-E64C-4144-A5B8-72187EFC420B}" destId="{634E74C5-7116-44D2-AFFD-6E84D16B4AB8}"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0A4CAD-5D1A-4888-B17C-187FF62E381C}">
      <dsp:nvSpPr>
        <dsp:cNvPr id="0" name=""/>
        <dsp:cNvSpPr/>
      </dsp:nvSpPr>
      <dsp:spPr>
        <a:xfrm>
          <a:off x="0" y="43738"/>
          <a:ext cx="6949440" cy="8634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Stations</a:t>
          </a:r>
        </a:p>
      </dsp:txBody>
      <dsp:txXfrm>
        <a:off x="42151" y="85889"/>
        <a:ext cx="6865138" cy="779158"/>
      </dsp:txXfrm>
    </dsp:sp>
    <dsp:sp modelId="{C8797ADB-26C3-4C7A-9D01-26ACC4D363F1}">
      <dsp:nvSpPr>
        <dsp:cNvPr id="0" name=""/>
        <dsp:cNvSpPr/>
      </dsp:nvSpPr>
      <dsp:spPr>
        <a:xfrm>
          <a:off x="0" y="1010878"/>
          <a:ext cx="6949440" cy="863460"/>
        </a:xfrm>
        <a:prstGeom prst="roundRect">
          <a:avLst/>
        </a:prstGeom>
        <a:solidFill>
          <a:schemeClr val="accent5">
            <a:hueOff val="1822866"/>
            <a:satOff val="-821"/>
            <a:lumOff val="-101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Routes</a:t>
          </a:r>
        </a:p>
      </dsp:txBody>
      <dsp:txXfrm>
        <a:off x="42151" y="1053029"/>
        <a:ext cx="6865138" cy="779158"/>
      </dsp:txXfrm>
    </dsp:sp>
    <dsp:sp modelId="{48B6AA04-A179-41A6-9199-B1D39F6A1798}">
      <dsp:nvSpPr>
        <dsp:cNvPr id="0" name=""/>
        <dsp:cNvSpPr/>
      </dsp:nvSpPr>
      <dsp:spPr>
        <a:xfrm>
          <a:off x="0" y="1978018"/>
          <a:ext cx="6949440" cy="863460"/>
        </a:xfrm>
        <a:prstGeom prst="roundRect">
          <a:avLst/>
        </a:prstGeom>
        <a:solidFill>
          <a:schemeClr val="accent5">
            <a:hueOff val="3645731"/>
            <a:satOff val="-1642"/>
            <a:lumOff val="-20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Customers</a:t>
          </a:r>
        </a:p>
      </dsp:txBody>
      <dsp:txXfrm>
        <a:off x="42151" y="2020169"/>
        <a:ext cx="6865138" cy="779158"/>
      </dsp:txXfrm>
    </dsp:sp>
    <dsp:sp modelId="{98FA3463-BBFF-4997-8F0D-97B2D5CC16C2}">
      <dsp:nvSpPr>
        <dsp:cNvPr id="0" name=""/>
        <dsp:cNvSpPr/>
      </dsp:nvSpPr>
      <dsp:spPr>
        <a:xfrm>
          <a:off x="0" y="2945158"/>
          <a:ext cx="6949440" cy="863460"/>
        </a:xfrm>
        <a:prstGeom prst="roundRect">
          <a:avLst/>
        </a:prstGeom>
        <a:solidFill>
          <a:schemeClr val="accent5">
            <a:hueOff val="5468597"/>
            <a:satOff val="-2462"/>
            <a:lumOff val="-30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Payment_Methods</a:t>
          </a:r>
        </a:p>
      </dsp:txBody>
      <dsp:txXfrm>
        <a:off x="42151" y="2987309"/>
        <a:ext cx="6865138" cy="779158"/>
      </dsp:txXfrm>
    </dsp:sp>
    <dsp:sp modelId="{15A54EAB-3142-4139-B9AD-9E75A71FBF10}">
      <dsp:nvSpPr>
        <dsp:cNvPr id="0" name=""/>
        <dsp:cNvSpPr/>
      </dsp:nvSpPr>
      <dsp:spPr>
        <a:xfrm>
          <a:off x="0" y="3912298"/>
          <a:ext cx="6949440" cy="863460"/>
        </a:xfrm>
        <a:prstGeom prst="roundRect">
          <a:avLst/>
        </a:prstGeom>
        <a:solidFill>
          <a:schemeClr val="accent5">
            <a:hueOff val="7291462"/>
            <a:satOff val="-3283"/>
            <a:lumOff val="-4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Tickets</a:t>
          </a:r>
        </a:p>
      </dsp:txBody>
      <dsp:txXfrm>
        <a:off x="42151" y="3954449"/>
        <a:ext cx="6865138" cy="779158"/>
      </dsp:txXfrm>
    </dsp:sp>
    <dsp:sp modelId="{634E74C5-7116-44D2-AFFD-6E84D16B4AB8}">
      <dsp:nvSpPr>
        <dsp:cNvPr id="0" name=""/>
        <dsp:cNvSpPr/>
      </dsp:nvSpPr>
      <dsp:spPr>
        <a:xfrm>
          <a:off x="0" y="4879438"/>
          <a:ext cx="6949440" cy="863460"/>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Route_Costs</a:t>
          </a:r>
        </a:p>
      </dsp:txBody>
      <dsp:txXfrm>
        <a:off x="42151" y="4921589"/>
        <a:ext cx="6865138" cy="77915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11/2/2025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74706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11/2/2025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46809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11/2/2025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0808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11/2/2025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53573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11/2/2025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0515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11/2/2025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6059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11/2/2025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30869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11/2/2025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4689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11/2/2025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40388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11/2/2025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26271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11/2/2025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81000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extBox 7">
            <a:extLst>
              <a:ext uri="{FF2B5EF4-FFF2-40B4-BE49-F238E27FC236}">
                <a16:creationId xmlns:a16="http://schemas.microsoft.com/office/drawing/2014/main" id="{1A0F3EFC-3CB7-D1F0-9800-8277F689F158}"/>
              </a:ext>
            </a:extLst>
          </p:cNvPr>
          <p:cNvSpPr txBox="1"/>
          <p:nvPr>
            <p:extLst>
              <p:ext uri="{1162E1C5-73C7-4A58-AE30-91384D911F3F}">
                <p184:classification xmlns:p184="http://schemas.microsoft.com/office/powerpoint/2018/4/main" val="ftr"/>
              </p:ext>
            </p:extLst>
          </p:nvPr>
        </p:nvSpPr>
        <p:spPr>
          <a:xfrm>
            <a:off x="63500" y="6642100"/>
            <a:ext cx="128270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Classification: General</a:t>
            </a: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11/2/2025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630953004"/>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51566847-3F17-DACE-5029-293F8D78E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357189" y="1439333"/>
            <a:ext cx="4411361" cy="2491946"/>
          </a:xfrm>
        </p:spPr>
        <p:txBody>
          <a:bodyPr>
            <a:normAutofit/>
          </a:bodyPr>
          <a:lstStyle/>
          <a:p>
            <a:pPr algn="l"/>
            <a:r>
              <a:rPr lang="en-US" sz="4400" dirty="0"/>
              <a:t>Virgin Trains</a:t>
            </a:r>
            <a:br>
              <a:rPr lang="en-US" sz="4400" dirty="0"/>
            </a:br>
            <a:r>
              <a:rPr lang="en-US" sz="3600" dirty="0"/>
              <a:t>DB for current year</a:t>
            </a:r>
          </a:p>
        </p:txBody>
      </p:sp>
      <p:sp>
        <p:nvSpPr>
          <p:cNvPr id="3" name="Subtitle 2"/>
          <p:cNvSpPr>
            <a:spLocks noGrp="1"/>
          </p:cNvSpPr>
          <p:nvPr>
            <p:ph type="subTitle" idx="1"/>
          </p:nvPr>
        </p:nvSpPr>
        <p:spPr>
          <a:xfrm>
            <a:off x="7357189" y="4161353"/>
            <a:ext cx="3885097" cy="1495157"/>
          </a:xfrm>
        </p:spPr>
        <p:txBody>
          <a:bodyPr vert="horz" lIns="91440" tIns="45720" rIns="91440" bIns="45720" rtlCol="0">
            <a:normAutofit/>
          </a:bodyPr>
          <a:lstStyle/>
          <a:p>
            <a:pPr algn="l"/>
            <a:r>
              <a:rPr lang="en-US" sz="2000"/>
              <a:t>By</a:t>
            </a:r>
          </a:p>
          <a:p>
            <a:pPr algn="l"/>
            <a:r>
              <a:rPr lang="en-US" sz="2000"/>
              <a:t>Savitha Yerram</a:t>
            </a:r>
          </a:p>
        </p:txBody>
      </p:sp>
      <p:pic>
        <p:nvPicPr>
          <p:cNvPr id="5" name="Picture 4" descr="East Coast rail line ...">
            <a:extLst>
              <a:ext uri="{FF2B5EF4-FFF2-40B4-BE49-F238E27FC236}">
                <a16:creationId xmlns:a16="http://schemas.microsoft.com/office/drawing/2014/main" id="{DE0BE0C0-1C30-C2FC-50A8-BA298636E62E}"/>
              </a:ext>
            </a:extLst>
          </p:cNvPr>
          <p:cNvPicPr>
            <a:picLocks noChangeAspect="1"/>
          </p:cNvPicPr>
          <p:nvPr/>
        </p:nvPicPr>
        <p:blipFill>
          <a:blip r:embed="rId2"/>
          <a:stretch>
            <a:fillRect/>
          </a:stretch>
        </p:blipFill>
        <p:spPr>
          <a:xfrm>
            <a:off x="1580805" y="728133"/>
            <a:ext cx="4710732" cy="3203991"/>
          </a:xfrm>
          <a:prstGeom prst="rect">
            <a:avLst/>
          </a:prstGeom>
        </p:spPr>
      </p:pic>
      <p:pic>
        <p:nvPicPr>
          <p:cNvPr id="19" name="Picture 18">
            <a:extLst>
              <a:ext uri="{FF2B5EF4-FFF2-40B4-BE49-F238E27FC236}">
                <a16:creationId xmlns:a16="http://schemas.microsoft.com/office/drawing/2014/main" id="{8383C6DF-8969-6562-C187-DF4C9C3297BB}"/>
              </a:ext>
            </a:extLst>
          </p:cNvPr>
          <p:cNvPicPr>
            <a:picLocks noChangeAspect="1"/>
          </p:cNvPicPr>
          <p:nvPr/>
        </p:nvPicPr>
        <p:blipFill>
          <a:blip r:embed="rId3"/>
          <a:srcRect r="32206" b="-4"/>
          <a:stretch>
            <a:fillRect/>
          </a:stretch>
        </p:blipFill>
        <p:spPr>
          <a:xfrm>
            <a:off x="1910649" y="4161354"/>
            <a:ext cx="1910530" cy="1993914"/>
          </a:xfrm>
          <a:prstGeom prst="rect">
            <a:avLst/>
          </a:prstGeom>
        </p:spPr>
      </p:pic>
      <p:pic>
        <p:nvPicPr>
          <p:cNvPr id="4" name="Picture 3" descr="Virgin Trains Logo PNG Transparent ...">
            <a:extLst>
              <a:ext uri="{FF2B5EF4-FFF2-40B4-BE49-F238E27FC236}">
                <a16:creationId xmlns:a16="http://schemas.microsoft.com/office/drawing/2014/main" id="{3DC0BC3B-3147-73E1-1E13-42FA571A6644}"/>
              </a:ext>
            </a:extLst>
          </p:cNvPr>
          <p:cNvPicPr>
            <a:picLocks noChangeAspect="1"/>
          </p:cNvPicPr>
          <p:nvPr/>
        </p:nvPicPr>
        <p:blipFill>
          <a:blip r:embed="rId4"/>
          <a:stretch>
            <a:fillRect/>
          </a:stretch>
        </p:blipFill>
        <p:spPr>
          <a:xfrm>
            <a:off x="4056011" y="4161353"/>
            <a:ext cx="1993913" cy="1993913"/>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1BD218-5AE3-6F41-A834-AC613963E276}"/>
              </a:ext>
            </a:extLst>
          </p:cNvPr>
          <p:cNvSpPr>
            <a:spLocks noGrp="1"/>
          </p:cNvSpPr>
          <p:nvPr>
            <p:ph type="title"/>
          </p:nvPr>
        </p:nvSpPr>
        <p:spPr>
          <a:xfrm>
            <a:off x="612649" y="548639"/>
            <a:ext cx="3494314" cy="5786638"/>
          </a:xfrm>
        </p:spPr>
        <p:txBody>
          <a:bodyPr anchor="t">
            <a:normAutofit/>
          </a:bodyPr>
          <a:lstStyle/>
          <a:p>
            <a:r>
              <a:rPr lang="en-US" dirty="0"/>
              <a:t>Virgin Trains: List of tables </a:t>
            </a:r>
          </a:p>
        </p:txBody>
      </p:sp>
      <p:graphicFrame>
        <p:nvGraphicFramePr>
          <p:cNvPr id="5" name="Content Placeholder 2">
            <a:extLst>
              <a:ext uri="{FF2B5EF4-FFF2-40B4-BE49-F238E27FC236}">
                <a16:creationId xmlns:a16="http://schemas.microsoft.com/office/drawing/2014/main" id="{7BFC3A54-607D-27BB-D573-56219846521D}"/>
              </a:ext>
            </a:extLst>
          </p:cNvPr>
          <p:cNvGraphicFramePr>
            <a:graphicFrameLocks noGrp="1"/>
          </p:cNvGraphicFramePr>
          <p:nvPr>
            <p:ph idx="1"/>
            <p:extLst>
              <p:ext uri="{D42A27DB-BD31-4B8C-83A1-F6EECF244321}">
                <p14:modId xmlns:p14="http://schemas.microsoft.com/office/powerpoint/2010/main" val="2172000238"/>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9211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868DE-02A8-5337-1BBE-64972A6F3AC5}"/>
              </a:ext>
            </a:extLst>
          </p:cNvPr>
          <p:cNvSpPr>
            <a:spLocks noGrp="1"/>
          </p:cNvSpPr>
          <p:nvPr>
            <p:ph type="title"/>
          </p:nvPr>
        </p:nvSpPr>
        <p:spPr/>
        <p:txBody>
          <a:bodyPr/>
          <a:lstStyle/>
          <a:p>
            <a:r>
              <a:rPr lang="en-US" dirty="0"/>
              <a:t>Virgin Trains:</a:t>
            </a:r>
            <a:br>
              <a:rPr lang="en-US" dirty="0"/>
            </a:br>
            <a:r>
              <a:rPr lang="en-US" dirty="0"/>
              <a:t>Stations table properties</a:t>
            </a:r>
          </a:p>
        </p:txBody>
      </p:sp>
      <p:graphicFrame>
        <p:nvGraphicFramePr>
          <p:cNvPr id="4" name="Content Placeholder 3">
            <a:extLst>
              <a:ext uri="{FF2B5EF4-FFF2-40B4-BE49-F238E27FC236}">
                <a16:creationId xmlns:a16="http://schemas.microsoft.com/office/drawing/2014/main" id="{893447B1-73E0-809A-901A-07D58D8B2EAD}"/>
              </a:ext>
            </a:extLst>
          </p:cNvPr>
          <p:cNvGraphicFramePr>
            <a:graphicFrameLocks noGrp="1"/>
          </p:cNvGraphicFramePr>
          <p:nvPr>
            <p:ph idx="1"/>
            <p:extLst>
              <p:ext uri="{D42A27DB-BD31-4B8C-83A1-F6EECF244321}">
                <p14:modId xmlns:p14="http://schemas.microsoft.com/office/powerpoint/2010/main" val="2696864775"/>
              </p:ext>
            </p:extLst>
          </p:nvPr>
        </p:nvGraphicFramePr>
        <p:xfrm>
          <a:off x="612775" y="2686855"/>
          <a:ext cx="10653712" cy="1483357"/>
        </p:xfrm>
        <a:graphic>
          <a:graphicData uri="http://schemas.openxmlformats.org/drawingml/2006/table">
            <a:tbl>
              <a:tblPr firstRow="1" bandRow="1">
                <a:tableStyleId>{5C22544A-7EE6-4342-B048-85BDC9FD1C3A}</a:tableStyleId>
              </a:tblPr>
              <a:tblGrid>
                <a:gridCol w="2663428">
                  <a:extLst>
                    <a:ext uri="{9D8B030D-6E8A-4147-A177-3AD203B41FA5}">
                      <a16:colId xmlns:a16="http://schemas.microsoft.com/office/drawing/2014/main" val="2509053077"/>
                    </a:ext>
                  </a:extLst>
                </a:gridCol>
                <a:gridCol w="2663428">
                  <a:extLst>
                    <a:ext uri="{9D8B030D-6E8A-4147-A177-3AD203B41FA5}">
                      <a16:colId xmlns:a16="http://schemas.microsoft.com/office/drawing/2014/main" val="744614827"/>
                    </a:ext>
                  </a:extLst>
                </a:gridCol>
                <a:gridCol w="2663428">
                  <a:extLst>
                    <a:ext uri="{9D8B030D-6E8A-4147-A177-3AD203B41FA5}">
                      <a16:colId xmlns:a16="http://schemas.microsoft.com/office/drawing/2014/main" val="3872074444"/>
                    </a:ext>
                  </a:extLst>
                </a:gridCol>
                <a:gridCol w="2663428">
                  <a:extLst>
                    <a:ext uri="{9D8B030D-6E8A-4147-A177-3AD203B41FA5}">
                      <a16:colId xmlns:a16="http://schemas.microsoft.com/office/drawing/2014/main" val="3722166966"/>
                    </a:ext>
                  </a:extLst>
                </a:gridCol>
              </a:tblGrid>
              <a:tr h="370840">
                <a:tc>
                  <a:txBody>
                    <a:bodyPr/>
                    <a:lstStyle/>
                    <a:p>
                      <a:pPr lvl="0">
                        <a:buNone/>
                      </a:pPr>
                      <a:r>
                        <a:rPr lang="en-US" dirty="0"/>
                        <a:t>Column name</a:t>
                      </a:r>
                    </a:p>
                  </a:txBody>
                  <a:tcPr/>
                </a:tc>
                <a:tc>
                  <a:txBody>
                    <a:bodyPr/>
                    <a:lstStyle/>
                    <a:p>
                      <a:r>
                        <a:rPr lang="en-US" dirty="0"/>
                        <a:t>Data type</a:t>
                      </a:r>
                    </a:p>
                  </a:txBody>
                  <a:tcPr/>
                </a:tc>
                <a:tc>
                  <a:txBody>
                    <a:bodyPr/>
                    <a:lstStyle/>
                    <a:p>
                      <a:r>
                        <a:rPr lang="en-US" dirty="0"/>
                        <a:t>Length</a:t>
                      </a:r>
                    </a:p>
                  </a:txBody>
                  <a:tcPr/>
                </a:tc>
                <a:tc>
                  <a:txBody>
                    <a:bodyPr/>
                    <a:lstStyle/>
                    <a:p>
                      <a:pPr lvl="0">
                        <a:buNone/>
                      </a:pPr>
                      <a:r>
                        <a:rPr lang="en-US" dirty="0"/>
                        <a:t>Key type</a:t>
                      </a:r>
                    </a:p>
                  </a:txBody>
                  <a:tcPr/>
                </a:tc>
                <a:extLst>
                  <a:ext uri="{0D108BD9-81ED-4DB2-BD59-A6C34878D82A}">
                    <a16:rowId xmlns:a16="http://schemas.microsoft.com/office/drawing/2014/main" val="1776610978"/>
                  </a:ext>
                </a:extLst>
              </a:tr>
              <a:tr h="370840">
                <a:tc>
                  <a:txBody>
                    <a:bodyPr/>
                    <a:lstStyle/>
                    <a:p>
                      <a:r>
                        <a:rPr lang="en-US" dirty="0" err="1"/>
                        <a:t>Station_id</a:t>
                      </a:r>
                    </a:p>
                  </a:txBody>
                  <a:tcPr/>
                </a:tc>
                <a:tc>
                  <a:txBody>
                    <a:bodyPr/>
                    <a:lstStyle/>
                    <a:p>
                      <a:r>
                        <a:rPr lang="en-US" dirty="0"/>
                        <a:t>Int</a:t>
                      </a:r>
                    </a:p>
                  </a:txBody>
                  <a:tcPr/>
                </a:tc>
                <a:tc>
                  <a:txBody>
                    <a:bodyPr/>
                    <a:lstStyle/>
                    <a:p>
                      <a:endParaRPr lang="en-US"/>
                    </a:p>
                  </a:txBody>
                  <a:tcPr/>
                </a:tc>
                <a:tc>
                  <a:txBody>
                    <a:bodyPr/>
                    <a:lstStyle/>
                    <a:p>
                      <a:r>
                        <a:rPr lang="en-US" dirty="0"/>
                        <a:t>Primary</a:t>
                      </a:r>
                    </a:p>
                  </a:txBody>
                  <a:tcPr/>
                </a:tc>
                <a:extLst>
                  <a:ext uri="{0D108BD9-81ED-4DB2-BD59-A6C34878D82A}">
                    <a16:rowId xmlns:a16="http://schemas.microsoft.com/office/drawing/2014/main" val="2672138349"/>
                  </a:ext>
                </a:extLst>
              </a:tr>
              <a:tr h="370839">
                <a:tc>
                  <a:txBody>
                    <a:bodyPr/>
                    <a:lstStyle/>
                    <a:p>
                      <a:pPr lvl="0">
                        <a:buNone/>
                      </a:pPr>
                      <a:r>
                        <a:rPr lang="en-US" err="1"/>
                        <a:t>Station_name</a:t>
                      </a:r>
                      <a:endParaRPr lang="en-US" dirty="0" err="1"/>
                    </a:p>
                  </a:txBody>
                  <a:tcPr/>
                </a:tc>
                <a:tc>
                  <a:txBody>
                    <a:bodyPr/>
                    <a:lstStyle/>
                    <a:p>
                      <a:pPr lvl="0">
                        <a:buNone/>
                      </a:pPr>
                      <a:r>
                        <a:rPr lang="en-US" dirty="0"/>
                        <a:t>Varchar</a:t>
                      </a:r>
                    </a:p>
                  </a:txBody>
                  <a:tcPr/>
                </a:tc>
                <a:tc>
                  <a:txBody>
                    <a:bodyPr/>
                    <a:lstStyle/>
                    <a:p>
                      <a:pPr lvl="0">
                        <a:buNone/>
                      </a:pPr>
                      <a:r>
                        <a:rPr lang="en-US" dirty="0"/>
                        <a:t>100</a:t>
                      </a:r>
                    </a:p>
                  </a:txBody>
                  <a:tcPr/>
                </a:tc>
                <a:tc>
                  <a:txBody>
                    <a:bodyPr/>
                    <a:lstStyle/>
                    <a:p>
                      <a:pPr lvl="0">
                        <a:buNone/>
                      </a:pPr>
                      <a:r>
                        <a:rPr lang="en-US" dirty="0"/>
                        <a:t>Not null</a:t>
                      </a:r>
                    </a:p>
                  </a:txBody>
                  <a:tcPr/>
                </a:tc>
                <a:extLst>
                  <a:ext uri="{0D108BD9-81ED-4DB2-BD59-A6C34878D82A}">
                    <a16:rowId xmlns:a16="http://schemas.microsoft.com/office/drawing/2014/main" val="2851637677"/>
                  </a:ext>
                </a:extLst>
              </a:tr>
              <a:tr h="370838">
                <a:tc>
                  <a:txBody>
                    <a:bodyPr/>
                    <a:lstStyle/>
                    <a:p>
                      <a:pPr lvl="0">
                        <a:buNone/>
                      </a:pPr>
                      <a:r>
                        <a:rPr lang="en-US" dirty="0"/>
                        <a:t>Location</a:t>
                      </a:r>
                    </a:p>
                  </a:txBody>
                  <a:tcPr/>
                </a:tc>
                <a:tc>
                  <a:txBody>
                    <a:bodyPr/>
                    <a:lstStyle/>
                    <a:p>
                      <a:pPr lvl="0">
                        <a:buNone/>
                      </a:pPr>
                      <a:r>
                        <a:rPr lang="en-US" dirty="0"/>
                        <a:t>Varchar</a:t>
                      </a:r>
                    </a:p>
                  </a:txBody>
                  <a:tcPr/>
                </a:tc>
                <a:tc>
                  <a:txBody>
                    <a:bodyPr/>
                    <a:lstStyle/>
                    <a:p>
                      <a:pPr lvl="0">
                        <a:buNone/>
                      </a:pPr>
                      <a:r>
                        <a:rPr lang="en-US" dirty="0"/>
                        <a:t>150</a:t>
                      </a:r>
                    </a:p>
                  </a:txBody>
                  <a:tcPr/>
                </a:tc>
                <a:tc>
                  <a:txBody>
                    <a:bodyPr/>
                    <a:lstStyle/>
                    <a:p>
                      <a:pPr lvl="0">
                        <a:buNone/>
                      </a:pPr>
                      <a:endParaRPr lang="en-US" dirty="0"/>
                    </a:p>
                  </a:txBody>
                  <a:tcPr/>
                </a:tc>
                <a:extLst>
                  <a:ext uri="{0D108BD9-81ED-4DB2-BD59-A6C34878D82A}">
                    <a16:rowId xmlns:a16="http://schemas.microsoft.com/office/drawing/2014/main" val="1531530960"/>
                  </a:ext>
                </a:extLst>
              </a:tr>
            </a:tbl>
          </a:graphicData>
        </a:graphic>
      </p:graphicFrame>
    </p:spTree>
    <p:extLst>
      <p:ext uri="{BB962C8B-B14F-4D97-AF65-F5344CB8AC3E}">
        <p14:creationId xmlns:p14="http://schemas.microsoft.com/office/powerpoint/2010/main" val="1679309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D2E72-A6E1-F96A-7BEF-01F14AD34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BB8A0-8538-EECB-4342-06849D520CD0}"/>
              </a:ext>
            </a:extLst>
          </p:cNvPr>
          <p:cNvSpPr>
            <a:spLocks noGrp="1"/>
          </p:cNvSpPr>
          <p:nvPr>
            <p:ph type="title"/>
          </p:nvPr>
        </p:nvSpPr>
        <p:spPr/>
        <p:txBody>
          <a:bodyPr/>
          <a:lstStyle/>
          <a:p>
            <a:r>
              <a:rPr lang="en-US" dirty="0"/>
              <a:t>Virgin Trains:</a:t>
            </a:r>
            <a:br>
              <a:rPr lang="en-US" dirty="0"/>
            </a:br>
            <a:r>
              <a:rPr lang="en-US" dirty="0"/>
              <a:t>Routes table properties</a:t>
            </a:r>
          </a:p>
        </p:txBody>
      </p:sp>
      <p:graphicFrame>
        <p:nvGraphicFramePr>
          <p:cNvPr id="4" name="Content Placeholder 3">
            <a:extLst>
              <a:ext uri="{FF2B5EF4-FFF2-40B4-BE49-F238E27FC236}">
                <a16:creationId xmlns:a16="http://schemas.microsoft.com/office/drawing/2014/main" id="{545D79BA-76E0-44E3-4FE5-33A6D3731DF6}"/>
              </a:ext>
            </a:extLst>
          </p:cNvPr>
          <p:cNvGraphicFramePr>
            <a:graphicFrameLocks noGrp="1"/>
          </p:cNvGraphicFramePr>
          <p:nvPr>
            <p:ph idx="1"/>
            <p:extLst>
              <p:ext uri="{D42A27DB-BD31-4B8C-83A1-F6EECF244321}">
                <p14:modId xmlns:p14="http://schemas.microsoft.com/office/powerpoint/2010/main" val="1439520809"/>
              </p:ext>
            </p:extLst>
          </p:nvPr>
        </p:nvGraphicFramePr>
        <p:xfrm>
          <a:off x="612775" y="1980884"/>
          <a:ext cx="10653712" cy="1854192"/>
        </p:xfrm>
        <a:graphic>
          <a:graphicData uri="http://schemas.openxmlformats.org/drawingml/2006/table">
            <a:tbl>
              <a:tblPr firstRow="1" bandRow="1">
                <a:tableStyleId>{5C22544A-7EE6-4342-B048-85BDC9FD1C3A}</a:tableStyleId>
              </a:tblPr>
              <a:tblGrid>
                <a:gridCol w="2663428">
                  <a:extLst>
                    <a:ext uri="{9D8B030D-6E8A-4147-A177-3AD203B41FA5}">
                      <a16:colId xmlns:a16="http://schemas.microsoft.com/office/drawing/2014/main" val="2509053077"/>
                    </a:ext>
                  </a:extLst>
                </a:gridCol>
                <a:gridCol w="2663428">
                  <a:extLst>
                    <a:ext uri="{9D8B030D-6E8A-4147-A177-3AD203B41FA5}">
                      <a16:colId xmlns:a16="http://schemas.microsoft.com/office/drawing/2014/main" val="744614827"/>
                    </a:ext>
                  </a:extLst>
                </a:gridCol>
                <a:gridCol w="2663428">
                  <a:extLst>
                    <a:ext uri="{9D8B030D-6E8A-4147-A177-3AD203B41FA5}">
                      <a16:colId xmlns:a16="http://schemas.microsoft.com/office/drawing/2014/main" val="3872074444"/>
                    </a:ext>
                  </a:extLst>
                </a:gridCol>
                <a:gridCol w="2663428">
                  <a:extLst>
                    <a:ext uri="{9D8B030D-6E8A-4147-A177-3AD203B41FA5}">
                      <a16:colId xmlns:a16="http://schemas.microsoft.com/office/drawing/2014/main" val="3722166966"/>
                    </a:ext>
                  </a:extLst>
                </a:gridCol>
              </a:tblGrid>
              <a:tr h="370839">
                <a:tc>
                  <a:txBody>
                    <a:bodyPr/>
                    <a:lstStyle/>
                    <a:p>
                      <a:pPr lvl="0">
                        <a:buNone/>
                      </a:pPr>
                      <a:r>
                        <a:rPr lang="en-US" dirty="0"/>
                        <a:t>Column name</a:t>
                      </a:r>
                    </a:p>
                  </a:txBody>
                  <a:tcPr/>
                </a:tc>
                <a:tc>
                  <a:txBody>
                    <a:bodyPr/>
                    <a:lstStyle/>
                    <a:p>
                      <a:r>
                        <a:rPr lang="en-US" dirty="0"/>
                        <a:t>Data type</a:t>
                      </a:r>
                    </a:p>
                  </a:txBody>
                  <a:tcPr/>
                </a:tc>
                <a:tc>
                  <a:txBody>
                    <a:bodyPr/>
                    <a:lstStyle/>
                    <a:p>
                      <a:r>
                        <a:rPr lang="en-US" dirty="0"/>
                        <a:t>Length</a:t>
                      </a:r>
                    </a:p>
                  </a:txBody>
                  <a:tcPr/>
                </a:tc>
                <a:tc>
                  <a:txBody>
                    <a:bodyPr/>
                    <a:lstStyle/>
                    <a:p>
                      <a:pPr lvl="0">
                        <a:buNone/>
                      </a:pPr>
                      <a:r>
                        <a:rPr lang="en-US" dirty="0"/>
                        <a:t>Key type</a:t>
                      </a:r>
                    </a:p>
                  </a:txBody>
                  <a:tcPr/>
                </a:tc>
                <a:extLst>
                  <a:ext uri="{0D108BD9-81ED-4DB2-BD59-A6C34878D82A}">
                    <a16:rowId xmlns:a16="http://schemas.microsoft.com/office/drawing/2014/main" val="1776610978"/>
                  </a:ext>
                </a:extLst>
              </a:tr>
              <a:tr h="370839">
                <a:tc>
                  <a:txBody>
                    <a:bodyPr/>
                    <a:lstStyle/>
                    <a:p>
                      <a:r>
                        <a:rPr lang="en-US" dirty="0" err="1"/>
                        <a:t>Route_id</a:t>
                      </a:r>
                    </a:p>
                  </a:txBody>
                  <a:tcPr/>
                </a:tc>
                <a:tc>
                  <a:txBody>
                    <a:bodyPr/>
                    <a:lstStyle/>
                    <a:p>
                      <a:r>
                        <a:rPr lang="en-US" dirty="0"/>
                        <a:t>Int</a:t>
                      </a:r>
                    </a:p>
                  </a:txBody>
                  <a:tcPr/>
                </a:tc>
                <a:tc>
                  <a:txBody>
                    <a:bodyPr/>
                    <a:lstStyle/>
                    <a:p>
                      <a:endParaRPr lang="en-US"/>
                    </a:p>
                  </a:txBody>
                  <a:tcPr/>
                </a:tc>
                <a:tc>
                  <a:txBody>
                    <a:bodyPr/>
                    <a:lstStyle/>
                    <a:p>
                      <a:r>
                        <a:rPr lang="en-US" dirty="0"/>
                        <a:t>Primary key</a:t>
                      </a:r>
                    </a:p>
                  </a:txBody>
                  <a:tcPr/>
                </a:tc>
                <a:extLst>
                  <a:ext uri="{0D108BD9-81ED-4DB2-BD59-A6C34878D82A}">
                    <a16:rowId xmlns:a16="http://schemas.microsoft.com/office/drawing/2014/main" val="2672138349"/>
                  </a:ext>
                </a:extLst>
              </a:tr>
              <a:tr h="370838">
                <a:tc>
                  <a:txBody>
                    <a:bodyPr/>
                    <a:lstStyle/>
                    <a:p>
                      <a:pPr lvl="0">
                        <a:buNone/>
                      </a:pPr>
                      <a:r>
                        <a:rPr lang="en-US" err="1"/>
                        <a:t>Start_station_id</a:t>
                      </a:r>
                      <a:endParaRPr lang="en-US" dirty="0" err="1"/>
                    </a:p>
                  </a:txBody>
                  <a:tcPr/>
                </a:tc>
                <a:tc>
                  <a:txBody>
                    <a:bodyPr/>
                    <a:lstStyle/>
                    <a:p>
                      <a:pPr lvl="0">
                        <a:buNone/>
                      </a:pPr>
                      <a:r>
                        <a:rPr lang="en-US" dirty="0"/>
                        <a:t>Int</a:t>
                      </a:r>
                    </a:p>
                  </a:txBody>
                  <a:tcPr/>
                </a:tc>
                <a:tc>
                  <a:txBody>
                    <a:bodyPr/>
                    <a:lstStyle/>
                    <a:p>
                      <a:pPr lvl="0">
                        <a:buNone/>
                      </a:pPr>
                      <a:endParaRPr lang="en-US" dirty="0"/>
                    </a:p>
                  </a:txBody>
                  <a:tcPr/>
                </a:tc>
                <a:tc>
                  <a:txBody>
                    <a:bodyPr/>
                    <a:lstStyle/>
                    <a:p>
                      <a:pPr lvl="0">
                        <a:buNone/>
                      </a:pPr>
                      <a:r>
                        <a:rPr lang="en-US" dirty="0"/>
                        <a:t>Not null</a:t>
                      </a:r>
                    </a:p>
                  </a:txBody>
                  <a:tcPr/>
                </a:tc>
                <a:extLst>
                  <a:ext uri="{0D108BD9-81ED-4DB2-BD59-A6C34878D82A}">
                    <a16:rowId xmlns:a16="http://schemas.microsoft.com/office/drawing/2014/main" val="2851637677"/>
                  </a:ext>
                </a:extLst>
              </a:tr>
              <a:tr h="370838">
                <a:tc>
                  <a:txBody>
                    <a:bodyPr/>
                    <a:lstStyle/>
                    <a:p>
                      <a:pPr lvl="0">
                        <a:buNone/>
                      </a:pPr>
                      <a:r>
                        <a:rPr lang="en-US" dirty="0" err="1"/>
                        <a:t>End_station_id</a:t>
                      </a:r>
                    </a:p>
                  </a:txBody>
                  <a:tcPr/>
                </a:tc>
                <a:tc>
                  <a:txBody>
                    <a:bodyPr/>
                    <a:lstStyle/>
                    <a:p>
                      <a:pPr lvl="0">
                        <a:buNone/>
                      </a:pPr>
                      <a:r>
                        <a:rPr lang="en-US" dirty="0"/>
                        <a:t>Int</a:t>
                      </a:r>
                    </a:p>
                  </a:txBody>
                  <a:tcPr/>
                </a:tc>
                <a:tc>
                  <a:txBody>
                    <a:bodyPr/>
                    <a:lstStyle/>
                    <a:p>
                      <a:pPr lvl="0">
                        <a:buNone/>
                      </a:pPr>
                      <a:endParaRPr lang="en-US" dirty="0"/>
                    </a:p>
                  </a:txBody>
                  <a:tcPr/>
                </a:tc>
                <a:tc>
                  <a:txBody>
                    <a:bodyPr/>
                    <a:lstStyle/>
                    <a:p>
                      <a:pPr lvl="0">
                        <a:buNone/>
                      </a:pPr>
                      <a:r>
                        <a:rPr lang="en-US" dirty="0"/>
                        <a:t>Not null</a:t>
                      </a:r>
                    </a:p>
                  </a:txBody>
                  <a:tcPr/>
                </a:tc>
                <a:extLst>
                  <a:ext uri="{0D108BD9-81ED-4DB2-BD59-A6C34878D82A}">
                    <a16:rowId xmlns:a16="http://schemas.microsoft.com/office/drawing/2014/main" val="1531530960"/>
                  </a:ext>
                </a:extLst>
              </a:tr>
              <a:tr h="370838">
                <a:tc>
                  <a:txBody>
                    <a:bodyPr/>
                    <a:lstStyle/>
                    <a:p>
                      <a:pPr lvl="0">
                        <a:buNone/>
                      </a:pPr>
                      <a:r>
                        <a:rPr lang="en-US" dirty="0" err="1"/>
                        <a:t>Distance_km</a:t>
                      </a:r>
                    </a:p>
                  </a:txBody>
                  <a:tcPr/>
                </a:tc>
                <a:tc>
                  <a:txBody>
                    <a:bodyPr/>
                    <a:lstStyle/>
                    <a:p>
                      <a:pPr lvl="0">
                        <a:buNone/>
                      </a:pPr>
                      <a:r>
                        <a:rPr lang="en-US" dirty="0"/>
                        <a:t>Decimals</a:t>
                      </a:r>
                    </a:p>
                  </a:txBody>
                  <a:tcPr/>
                </a:tc>
                <a:tc>
                  <a:txBody>
                    <a:bodyPr/>
                    <a:lstStyle/>
                    <a:p>
                      <a:pPr lvl="0">
                        <a:buNone/>
                      </a:pPr>
                      <a:r>
                        <a:rPr lang="en-US" dirty="0"/>
                        <a:t>6 decimals 2</a:t>
                      </a:r>
                    </a:p>
                  </a:txBody>
                  <a:tcPr/>
                </a:tc>
                <a:tc>
                  <a:txBody>
                    <a:bodyPr/>
                    <a:lstStyle/>
                    <a:p>
                      <a:pPr lvl="0">
                        <a:buNone/>
                      </a:pPr>
                      <a:r>
                        <a:rPr lang="en-US" dirty="0"/>
                        <a:t>Not null</a:t>
                      </a:r>
                    </a:p>
                  </a:txBody>
                  <a:tcPr/>
                </a:tc>
                <a:extLst>
                  <a:ext uri="{0D108BD9-81ED-4DB2-BD59-A6C34878D82A}">
                    <a16:rowId xmlns:a16="http://schemas.microsoft.com/office/drawing/2014/main" val="2822952210"/>
                  </a:ext>
                </a:extLst>
              </a:tr>
            </a:tbl>
          </a:graphicData>
        </a:graphic>
      </p:graphicFrame>
      <p:sp>
        <p:nvSpPr>
          <p:cNvPr id="5" name="Title 1">
            <a:extLst>
              <a:ext uri="{FF2B5EF4-FFF2-40B4-BE49-F238E27FC236}">
                <a16:creationId xmlns:a16="http://schemas.microsoft.com/office/drawing/2014/main" id="{6473F986-0CBC-3512-2B87-6E38C5816693}"/>
              </a:ext>
            </a:extLst>
          </p:cNvPr>
          <p:cNvSpPr txBox="1">
            <a:spLocks/>
          </p:cNvSpPr>
          <p:nvPr/>
        </p:nvSpPr>
        <p:spPr>
          <a:xfrm>
            <a:off x="608165" y="4376569"/>
            <a:ext cx="10642373" cy="1535669"/>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1600" dirty="0"/>
              <a:t>Constraint:</a:t>
            </a:r>
          </a:p>
          <a:p>
            <a:endParaRPr lang="en-US" sz="1600" dirty="0"/>
          </a:p>
          <a:p>
            <a:r>
              <a:rPr lang="en-US" sz="1600" b="0" dirty="0">
                <a:ea typeface="+mj-lt"/>
                <a:cs typeface="+mj-lt"/>
              </a:rPr>
              <a:t>CONSTRAINT </a:t>
            </a:r>
            <a:r>
              <a:rPr lang="en-US" sz="1600" b="0" err="1">
                <a:ea typeface="+mj-lt"/>
                <a:cs typeface="+mj-lt"/>
              </a:rPr>
              <a:t>FK_Routes_StartStation</a:t>
            </a:r>
            <a:r>
              <a:rPr lang="en-US" sz="1600" b="0" dirty="0">
                <a:ea typeface="+mj-lt"/>
                <a:cs typeface="+mj-lt"/>
              </a:rPr>
              <a:t> </a:t>
            </a:r>
            <a:endParaRPr lang="en-US" sz="1600" dirty="0"/>
          </a:p>
          <a:p>
            <a:r>
              <a:rPr lang="en-US" sz="1600" b="0" dirty="0">
                <a:ea typeface="+mj-lt"/>
                <a:cs typeface="+mj-lt"/>
              </a:rPr>
              <a:t> FOREIGN KEY (</a:t>
            </a:r>
            <a:r>
              <a:rPr lang="en-US" sz="1600" b="0" dirty="0" err="1">
                <a:ea typeface="+mj-lt"/>
                <a:cs typeface="+mj-lt"/>
              </a:rPr>
              <a:t>start_station_id</a:t>
            </a:r>
            <a:r>
              <a:rPr lang="en-US" sz="1600" b="0" dirty="0">
                <a:ea typeface="+mj-lt"/>
                <a:cs typeface="+mj-lt"/>
              </a:rPr>
              <a:t>) REFERENCES Stations(</a:t>
            </a:r>
            <a:r>
              <a:rPr lang="en-US" sz="1600" b="0" dirty="0" err="1">
                <a:ea typeface="+mj-lt"/>
                <a:cs typeface="+mj-lt"/>
              </a:rPr>
              <a:t>station_id</a:t>
            </a:r>
            <a:r>
              <a:rPr lang="en-US" sz="1600" b="0" dirty="0">
                <a:ea typeface="+mj-lt"/>
                <a:cs typeface="+mj-lt"/>
              </a:rPr>
              <a:t>),</a:t>
            </a:r>
            <a:endParaRPr lang="en-US" sz="1600" dirty="0"/>
          </a:p>
          <a:p>
            <a:r>
              <a:rPr lang="en-US" sz="1600" b="0" dirty="0">
                <a:ea typeface="+mj-lt"/>
                <a:cs typeface="+mj-lt"/>
              </a:rPr>
              <a:t>CONSTRAINT </a:t>
            </a:r>
            <a:r>
              <a:rPr lang="en-US" sz="1600" b="0" err="1">
                <a:ea typeface="+mj-lt"/>
                <a:cs typeface="+mj-lt"/>
              </a:rPr>
              <a:t>FK_Routes_EndStation</a:t>
            </a:r>
            <a:r>
              <a:rPr lang="en-US" sz="1600" b="0" dirty="0">
                <a:ea typeface="+mj-lt"/>
                <a:cs typeface="+mj-lt"/>
              </a:rPr>
              <a:t> </a:t>
            </a:r>
            <a:endParaRPr lang="en-US" sz="1600" dirty="0"/>
          </a:p>
          <a:p>
            <a:r>
              <a:rPr lang="en-US" sz="1600" b="0" dirty="0">
                <a:ea typeface="+mj-lt"/>
                <a:cs typeface="+mj-lt"/>
              </a:rPr>
              <a:t> FOREIGN KEY (</a:t>
            </a:r>
            <a:r>
              <a:rPr lang="en-US" sz="1600" b="0" dirty="0" err="1">
                <a:ea typeface="+mj-lt"/>
                <a:cs typeface="+mj-lt"/>
              </a:rPr>
              <a:t>end_station_id</a:t>
            </a:r>
            <a:r>
              <a:rPr lang="en-US" sz="1600" b="0" dirty="0">
                <a:ea typeface="+mj-lt"/>
                <a:cs typeface="+mj-lt"/>
              </a:rPr>
              <a:t>) REFERENCES Stations(</a:t>
            </a:r>
            <a:r>
              <a:rPr lang="en-US" sz="1600" b="0" dirty="0" err="1">
                <a:ea typeface="+mj-lt"/>
                <a:cs typeface="+mj-lt"/>
              </a:rPr>
              <a:t>station_id</a:t>
            </a:r>
            <a:r>
              <a:rPr lang="en-US" sz="1600" b="0" dirty="0">
                <a:ea typeface="+mj-lt"/>
                <a:cs typeface="+mj-lt"/>
              </a:rPr>
              <a:t>)</a:t>
            </a:r>
            <a:endParaRPr lang="en-US" sz="1600" dirty="0"/>
          </a:p>
          <a:p>
            <a:endParaRPr lang="en-US" sz="1600" dirty="0"/>
          </a:p>
        </p:txBody>
      </p:sp>
    </p:spTree>
    <p:extLst>
      <p:ext uri="{BB962C8B-B14F-4D97-AF65-F5344CB8AC3E}">
        <p14:creationId xmlns:p14="http://schemas.microsoft.com/office/powerpoint/2010/main" val="4171669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2552F-2B18-A493-5185-C6866797D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B261C-C6FE-4893-D606-70EDAFCA6F4E}"/>
              </a:ext>
            </a:extLst>
          </p:cNvPr>
          <p:cNvSpPr>
            <a:spLocks noGrp="1"/>
          </p:cNvSpPr>
          <p:nvPr>
            <p:ph type="title"/>
          </p:nvPr>
        </p:nvSpPr>
        <p:spPr/>
        <p:txBody>
          <a:bodyPr/>
          <a:lstStyle/>
          <a:p>
            <a:r>
              <a:rPr lang="en-US" dirty="0"/>
              <a:t>Virgin Trains:</a:t>
            </a:r>
            <a:br>
              <a:rPr lang="en-US" dirty="0"/>
            </a:br>
            <a:r>
              <a:rPr lang="en-US" dirty="0"/>
              <a:t>Customers table properties</a:t>
            </a:r>
          </a:p>
        </p:txBody>
      </p:sp>
      <p:graphicFrame>
        <p:nvGraphicFramePr>
          <p:cNvPr id="4" name="Content Placeholder 3">
            <a:extLst>
              <a:ext uri="{FF2B5EF4-FFF2-40B4-BE49-F238E27FC236}">
                <a16:creationId xmlns:a16="http://schemas.microsoft.com/office/drawing/2014/main" id="{36F33399-4A6A-9782-13DB-54029DD3A200}"/>
              </a:ext>
            </a:extLst>
          </p:cNvPr>
          <p:cNvGraphicFramePr>
            <a:graphicFrameLocks noGrp="1"/>
          </p:cNvGraphicFramePr>
          <p:nvPr>
            <p:ph idx="1"/>
            <p:extLst>
              <p:ext uri="{D42A27DB-BD31-4B8C-83A1-F6EECF244321}">
                <p14:modId xmlns:p14="http://schemas.microsoft.com/office/powerpoint/2010/main" val="603590550"/>
              </p:ext>
            </p:extLst>
          </p:nvPr>
        </p:nvGraphicFramePr>
        <p:xfrm>
          <a:off x="612775" y="1980884"/>
          <a:ext cx="10653712" cy="2225030"/>
        </p:xfrm>
        <a:graphic>
          <a:graphicData uri="http://schemas.openxmlformats.org/drawingml/2006/table">
            <a:tbl>
              <a:tblPr firstRow="1" bandRow="1">
                <a:tableStyleId>{5C22544A-7EE6-4342-B048-85BDC9FD1C3A}</a:tableStyleId>
              </a:tblPr>
              <a:tblGrid>
                <a:gridCol w="2663428">
                  <a:extLst>
                    <a:ext uri="{9D8B030D-6E8A-4147-A177-3AD203B41FA5}">
                      <a16:colId xmlns:a16="http://schemas.microsoft.com/office/drawing/2014/main" val="2509053077"/>
                    </a:ext>
                  </a:extLst>
                </a:gridCol>
                <a:gridCol w="2663428">
                  <a:extLst>
                    <a:ext uri="{9D8B030D-6E8A-4147-A177-3AD203B41FA5}">
                      <a16:colId xmlns:a16="http://schemas.microsoft.com/office/drawing/2014/main" val="744614827"/>
                    </a:ext>
                  </a:extLst>
                </a:gridCol>
                <a:gridCol w="2663428">
                  <a:extLst>
                    <a:ext uri="{9D8B030D-6E8A-4147-A177-3AD203B41FA5}">
                      <a16:colId xmlns:a16="http://schemas.microsoft.com/office/drawing/2014/main" val="3872074444"/>
                    </a:ext>
                  </a:extLst>
                </a:gridCol>
                <a:gridCol w="2663428">
                  <a:extLst>
                    <a:ext uri="{9D8B030D-6E8A-4147-A177-3AD203B41FA5}">
                      <a16:colId xmlns:a16="http://schemas.microsoft.com/office/drawing/2014/main" val="3722166966"/>
                    </a:ext>
                  </a:extLst>
                </a:gridCol>
              </a:tblGrid>
              <a:tr h="370839">
                <a:tc>
                  <a:txBody>
                    <a:bodyPr/>
                    <a:lstStyle/>
                    <a:p>
                      <a:pPr lvl="0">
                        <a:buNone/>
                      </a:pPr>
                      <a:r>
                        <a:rPr lang="en-US" dirty="0"/>
                        <a:t>Column name</a:t>
                      </a:r>
                    </a:p>
                  </a:txBody>
                  <a:tcPr/>
                </a:tc>
                <a:tc>
                  <a:txBody>
                    <a:bodyPr/>
                    <a:lstStyle/>
                    <a:p>
                      <a:r>
                        <a:rPr lang="en-US" dirty="0"/>
                        <a:t>Data type</a:t>
                      </a:r>
                    </a:p>
                  </a:txBody>
                  <a:tcPr/>
                </a:tc>
                <a:tc>
                  <a:txBody>
                    <a:bodyPr/>
                    <a:lstStyle/>
                    <a:p>
                      <a:r>
                        <a:rPr lang="en-US" dirty="0"/>
                        <a:t>Length</a:t>
                      </a:r>
                    </a:p>
                  </a:txBody>
                  <a:tcPr/>
                </a:tc>
                <a:tc>
                  <a:txBody>
                    <a:bodyPr/>
                    <a:lstStyle/>
                    <a:p>
                      <a:pPr lvl="0">
                        <a:buNone/>
                      </a:pPr>
                      <a:r>
                        <a:rPr lang="en-US" dirty="0"/>
                        <a:t>Key type</a:t>
                      </a:r>
                    </a:p>
                  </a:txBody>
                  <a:tcPr/>
                </a:tc>
                <a:extLst>
                  <a:ext uri="{0D108BD9-81ED-4DB2-BD59-A6C34878D82A}">
                    <a16:rowId xmlns:a16="http://schemas.microsoft.com/office/drawing/2014/main" val="1776610978"/>
                  </a:ext>
                </a:extLst>
              </a:tr>
              <a:tr h="370839">
                <a:tc>
                  <a:txBody>
                    <a:bodyPr/>
                    <a:lstStyle/>
                    <a:p>
                      <a:r>
                        <a:rPr lang="en-US" dirty="0"/>
                        <a:t>Customer_id</a:t>
                      </a:r>
                      <a:endParaRPr lang="en-US" dirty="0" err="1"/>
                    </a:p>
                  </a:txBody>
                  <a:tcPr/>
                </a:tc>
                <a:tc>
                  <a:txBody>
                    <a:bodyPr/>
                    <a:lstStyle/>
                    <a:p>
                      <a:r>
                        <a:rPr lang="en-US" dirty="0"/>
                        <a:t>Int</a:t>
                      </a:r>
                    </a:p>
                  </a:txBody>
                  <a:tcPr/>
                </a:tc>
                <a:tc>
                  <a:txBody>
                    <a:bodyPr/>
                    <a:lstStyle/>
                    <a:p>
                      <a:endParaRPr lang="en-US"/>
                    </a:p>
                  </a:txBody>
                  <a:tcPr/>
                </a:tc>
                <a:tc>
                  <a:txBody>
                    <a:bodyPr/>
                    <a:lstStyle/>
                    <a:p>
                      <a:r>
                        <a:rPr lang="en-US" dirty="0"/>
                        <a:t>Primary key</a:t>
                      </a:r>
                    </a:p>
                  </a:txBody>
                  <a:tcPr/>
                </a:tc>
                <a:extLst>
                  <a:ext uri="{0D108BD9-81ED-4DB2-BD59-A6C34878D82A}">
                    <a16:rowId xmlns:a16="http://schemas.microsoft.com/office/drawing/2014/main" val="2672138349"/>
                  </a:ext>
                </a:extLst>
              </a:tr>
              <a:tr h="370838">
                <a:tc>
                  <a:txBody>
                    <a:bodyPr/>
                    <a:lstStyle/>
                    <a:p>
                      <a:pPr lvl="0">
                        <a:buNone/>
                      </a:pPr>
                      <a:r>
                        <a:rPr lang="en-US" dirty="0" err="1"/>
                        <a:t>First_name</a:t>
                      </a:r>
                    </a:p>
                  </a:txBody>
                  <a:tcPr/>
                </a:tc>
                <a:tc>
                  <a:txBody>
                    <a:bodyPr/>
                    <a:lstStyle/>
                    <a:p>
                      <a:pPr lvl="0">
                        <a:buNone/>
                      </a:pPr>
                      <a:r>
                        <a:rPr lang="en-US" dirty="0"/>
                        <a:t>Varchar</a:t>
                      </a:r>
                    </a:p>
                  </a:txBody>
                  <a:tcPr/>
                </a:tc>
                <a:tc>
                  <a:txBody>
                    <a:bodyPr/>
                    <a:lstStyle/>
                    <a:p>
                      <a:pPr lvl="0">
                        <a:buNone/>
                      </a:pPr>
                      <a:r>
                        <a:rPr lang="en-US" dirty="0"/>
                        <a:t>50</a:t>
                      </a:r>
                    </a:p>
                  </a:txBody>
                  <a:tcPr/>
                </a:tc>
                <a:tc>
                  <a:txBody>
                    <a:bodyPr/>
                    <a:lstStyle/>
                    <a:p>
                      <a:pPr lvl="0">
                        <a:buNone/>
                      </a:pPr>
                      <a:r>
                        <a:rPr lang="en-US" dirty="0"/>
                        <a:t>Not null</a:t>
                      </a:r>
                    </a:p>
                  </a:txBody>
                  <a:tcPr/>
                </a:tc>
                <a:extLst>
                  <a:ext uri="{0D108BD9-81ED-4DB2-BD59-A6C34878D82A}">
                    <a16:rowId xmlns:a16="http://schemas.microsoft.com/office/drawing/2014/main" val="2851637677"/>
                  </a:ext>
                </a:extLst>
              </a:tr>
              <a:tr h="370838">
                <a:tc>
                  <a:txBody>
                    <a:bodyPr/>
                    <a:lstStyle/>
                    <a:p>
                      <a:pPr lvl="0">
                        <a:buNone/>
                      </a:pPr>
                      <a:r>
                        <a:rPr lang="en-US" dirty="0" err="1"/>
                        <a:t>Last_name</a:t>
                      </a:r>
                    </a:p>
                  </a:txBody>
                  <a:tcPr/>
                </a:tc>
                <a:tc>
                  <a:txBody>
                    <a:bodyPr/>
                    <a:lstStyle/>
                    <a:p>
                      <a:pPr lvl="0">
                        <a:buNone/>
                      </a:pPr>
                      <a:r>
                        <a:rPr lang="en-US" dirty="0"/>
                        <a:t>Varchar</a:t>
                      </a:r>
                    </a:p>
                  </a:txBody>
                  <a:tcPr/>
                </a:tc>
                <a:tc>
                  <a:txBody>
                    <a:bodyPr/>
                    <a:lstStyle/>
                    <a:p>
                      <a:pPr lvl="0">
                        <a:buNone/>
                      </a:pPr>
                      <a:r>
                        <a:rPr lang="en-US" dirty="0"/>
                        <a:t>50</a:t>
                      </a:r>
                    </a:p>
                  </a:txBody>
                  <a:tcPr/>
                </a:tc>
                <a:tc>
                  <a:txBody>
                    <a:bodyPr/>
                    <a:lstStyle/>
                    <a:p>
                      <a:pPr lvl="0">
                        <a:buNone/>
                      </a:pPr>
                      <a:r>
                        <a:rPr lang="en-US" dirty="0"/>
                        <a:t>Not null</a:t>
                      </a:r>
                    </a:p>
                  </a:txBody>
                  <a:tcPr/>
                </a:tc>
                <a:extLst>
                  <a:ext uri="{0D108BD9-81ED-4DB2-BD59-A6C34878D82A}">
                    <a16:rowId xmlns:a16="http://schemas.microsoft.com/office/drawing/2014/main" val="1531530960"/>
                  </a:ext>
                </a:extLst>
              </a:tr>
              <a:tr h="370838">
                <a:tc>
                  <a:txBody>
                    <a:bodyPr/>
                    <a:lstStyle/>
                    <a:p>
                      <a:pPr lvl="0">
                        <a:buNone/>
                      </a:pPr>
                      <a:r>
                        <a:rPr lang="en-US" dirty="0"/>
                        <a:t>Email</a:t>
                      </a:r>
                      <a:endParaRPr lang="en-US" dirty="0" err="1"/>
                    </a:p>
                  </a:txBody>
                  <a:tcPr/>
                </a:tc>
                <a:tc>
                  <a:txBody>
                    <a:bodyPr/>
                    <a:lstStyle/>
                    <a:p>
                      <a:pPr lvl="0">
                        <a:buNone/>
                      </a:pPr>
                      <a:r>
                        <a:rPr lang="en-US" dirty="0"/>
                        <a:t>Varchar</a:t>
                      </a:r>
                    </a:p>
                  </a:txBody>
                  <a:tcPr/>
                </a:tc>
                <a:tc>
                  <a:txBody>
                    <a:bodyPr/>
                    <a:lstStyle/>
                    <a:p>
                      <a:pPr lvl="0">
                        <a:buNone/>
                      </a:pPr>
                      <a:r>
                        <a:rPr lang="en-US" dirty="0"/>
                        <a:t>100</a:t>
                      </a:r>
                    </a:p>
                  </a:txBody>
                  <a:tcPr/>
                </a:tc>
                <a:tc>
                  <a:txBody>
                    <a:bodyPr/>
                    <a:lstStyle/>
                    <a:p>
                      <a:pPr lvl="0">
                        <a:buNone/>
                      </a:pPr>
                      <a:r>
                        <a:rPr lang="en-US" dirty="0"/>
                        <a:t>unique</a:t>
                      </a:r>
                    </a:p>
                  </a:txBody>
                  <a:tcPr/>
                </a:tc>
                <a:extLst>
                  <a:ext uri="{0D108BD9-81ED-4DB2-BD59-A6C34878D82A}">
                    <a16:rowId xmlns:a16="http://schemas.microsoft.com/office/drawing/2014/main" val="2822952210"/>
                  </a:ext>
                </a:extLst>
              </a:tr>
              <a:tr h="370838">
                <a:tc>
                  <a:txBody>
                    <a:bodyPr/>
                    <a:lstStyle/>
                    <a:p>
                      <a:pPr lvl="0">
                        <a:buNone/>
                      </a:pPr>
                      <a:r>
                        <a:rPr lang="en-US" dirty="0"/>
                        <a:t>Age</a:t>
                      </a:r>
                    </a:p>
                  </a:txBody>
                  <a:tcPr/>
                </a:tc>
                <a:tc>
                  <a:txBody>
                    <a:bodyPr/>
                    <a:lstStyle/>
                    <a:p>
                      <a:pPr lvl="0">
                        <a:buNone/>
                      </a:pPr>
                      <a:r>
                        <a:rPr lang="en-US" dirty="0"/>
                        <a:t>Int</a:t>
                      </a:r>
                    </a:p>
                  </a:txBody>
                  <a:tcPr/>
                </a:tc>
                <a:tc>
                  <a:txBody>
                    <a:bodyPr/>
                    <a:lstStyle/>
                    <a:p>
                      <a:pPr lvl="0">
                        <a:buNone/>
                      </a:pPr>
                      <a:endParaRPr lang="en-US" dirty="0"/>
                    </a:p>
                  </a:txBody>
                  <a:tcPr/>
                </a:tc>
                <a:tc>
                  <a:txBody>
                    <a:bodyPr/>
                    <a:lstStyle/>
                    <a:p>
                      <a:pPr lvl="0">
                        <a:buNone/>
                      </a:pPr>
                      <a:r>
                        <a:rPr lang="en-US" dirty="0"/>
                        <a:t>Not null</a:t>
                      </a:r>
                    </a:p>
                  </a:txBody>
                  <a:tcPr/>
                </a:tc>
                <a:extLst>
                  <a:ext uri="{0D108BD9-81ED-4DB2-BD59-A6C34878D82A}">
                    <a16:rowId xmlns:a16="http://schemas.microsoft.com/office/drawing/2014/main" val="3309683074"/>
                  </a:ext>
                </a:extLst>
              </a:tr>
            </a:tbl>
          </a:graphicData>
        </a:graphic>
      </p:graphicFrame>
    </p:spTree>
    <p:extLst>
      <p:ext uri="{BB962C8B-B14F-4D97-AF65-F5344CB8AC3E}">
        <p14:creationId xmlns:p14="http://schemas.microsoft.com/office/powerpoint/2010/main" val="12657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3C25A-5E27-B159-94E5-8EF40714C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5AEBC-C597-D6A2-F37C-BB88A5F8F099}"/>
              </a:ext>
            </a:extLst>
          </p:cNvPr>
          <p:cNvSpPr>
            <a:spLocks noGrp="1"/>
          </p:cNvSpPr>
          <p:nvPr>
            <p:ph type="title"/>
          </p:nvPr>
        </p:nvSpPr>
        <p:spPr/>
        <p:txBody>
          <a:bodyPr/>
          <a:lstStyle/>
          <a:p>
            <a:r>
              <a:rPr lang="en-US" dirty="0"/>
              <a:t>Virgin Trains:</a:t>
            </a:r>
            <a:br>
              <a:rPr lang="en-US" dirty="0"/>
            </a:br>
            <a:r>
              <a:rPr lang="en-US" dirty="0" err="1"/>
              <a:t>Payment_methods</a:t>
            </a:r>
            <a:r>
              <a:rPr lang="en-US" dirty="0"/>
              <a:t> table properties</a:t>
            </a:r>
          </a:p>
        </p:txBody>
      </p:sp>
      <p:graphicFrame>
        <p:nvGraphicFramePr>
          <p:cNvPr id="4" name="Content Placeholder 3">
            <a:extLst>
              <a:ext uri="{FF2B5EF4-FFF2-40B4-BE49-F238E27FC236}">
                <a16:creationId xmlns:a16="http://schemas.microsoft.com/office/drawing/2014/main" id="{27F5B603-D447-DF4B-5861-A47AF6815089}"/>
              </a:ext>
            </a:extLst>
          </p:cNvPr>
          <p:cNvGraphicFramePr>
            <a:graphicFrameLocks noGrp="1"/>
          </p:cNvGraphicFramePr>
          <p:nvPr>
            <p:ph idx="1"/>
            <p:extLst>
              <p:ext uri="{D42A27DB-BD31-4B8C-83A1-F6EECF244321}">
                <p14:modId xmlns:p14="http://schemas.microsoft.com/office/powerpoint/2010/main" val="3216571084"/>
              </p:ext>
            </p:extLst>
          </p:nvPr>
        </p:nvGraphicFramePr>
        <p:xfrm>
          <a:off x="489510" y="2698060"/>
          <a:ext cx="10653712" cy="1112516"/>
        </p:xfrm>
        <a:graphic>
          <a:graphicData uri="http://schemas.openxmlformats.org/drawingml/2006/table">
            <a:tbl>
              <a:tblPr firstRow="1" bandRow="1">
                <a:tableStyleId>{5C22544A-7EE6-4342-B048-85BDC9FD1C3A}</a:tableStyleId>
              </a:tblPr>
              <a:tblGrid>
                <a:gridCol w="2663428">
                  <a:extLst>
                    <a:ext uri="{9D8B030D-6E8A-4147-A177-3AD203B41FA5}">
                      <a16:colId xmlns:a16="http://schemas.microsoft.com/office/drawing/2014/main" val="2509053077"/>
                    </a:ext>
                  </a:extLst>
                </a:gridCol>
                <a:gridCol w="2663428">
                  <a:extLst>
                    <a:ext uri="{9D8B030D-6E8A-4147-A177-3AD203B41FA5}">
                      <a16:colId xmlns:a16="http://schemas.microsoft.com/office/drawing/2014/main" val="744614827"/>
                    </a:ext>
                  </a:extLst>
                </a:gridCol>
                <a:gridCol w="2663428">
                  <a:extLst>
                    <a:ext uri="{9D8B030D-6E8A-4147-A177-3AD203B41FA5}">
                      <a16:colId xmlns:a16="http://schemas.microsoft.com/office/drawing/2014/main" val="3872074444"/>
                    </a:ext>
                  </a:extLst>
                </a:gridCol>
                <a:gridCol w="2663428">
                  <a:extLst>
                    <a:ext uri="{9D8B030D-6E8A-4147-A177-3AD203B41FA5}">
                      <a16:colId xmlns:a16="http://schemas.microsoft.com/office/drawing/2014/main" val="3722166966"/>
                    </a:ext>
                  </a:extLst>
                </a:gridCol>
              </a:tblGrid>
              <a:tr h="370839">
                <a:tc>
                  <a:txBody>
                    <a:bodyPr/>
                    <a:lstStyle/>
                    <a:p>
                      <a:pPr lvl="0">
                        <a:buNone/>
                      </a:pPr>
                      <a:r>
                        <a:rPr lang="en-US" dirty="0"/>
                        <a:t>Column name</a:t>
                      </a:r>
                    </a:p>
                  </a:txBody>
                  <a:tcPr/>
                </a:tc>
                <a:tc>
                  <a:txBody>
                    <a:bodyPr/>
                    <a:lstStyle/>
                    <a:p>
                      <a:r>
                        <a:rPr lang="en-US" dirty="0"/>
                        <a:t>Data type</a:t>
                      </a:r>
                    </a:p>
                  </a:txBody>
                  <a:tcPr/>
                </a:tc>
                <a:tc>
                  <a:txBody>
                    <a:bodyPr/>
                    <a:lstStyle/>
                    <a:p>
                      <a:r>
                        <a:rPr lang="en-US" dirty="0"/>
                        <a:t>Length</a:t>
                      </a:r>
                    </a:p>
                  </a:txBody>
                  <a:tcPr/>
                </a:tc>
                <a:tc>
                  <a:txBody>
                    <a:bodyPr/>
                    <a:lstStyle/>
                    <a:p>
                      <a:pPr lvl="0">
                        <a:buNone/>
                      </a:pPr>
                      <a:r>
                        <a:rPr lang="en-US" dirty="0"/>
                        <a:t>Key type</a:t>
                      </a:r>
                    </a:p>
                  </a:txBody>
                  <a:tcPr/>
                </a:tc>
                <a:extLst>
                  <a:ext uri="{0D108BD9-81ED-4DB2-BD59-A6C34878D82A}">
                    <a16:rowId xmlns:a16="http://schemas.microsoft.com/office/drawing/2014/main" val="1776610978"/>
                  </a:ext>
                </a:extLst>
              </a:tr>
              <a:tr h="370839">
                <a:tc>
                  <a:txBody>
                    <a:bodyPr/>
                    <a:lstStyle/>
                    <a:p>
                      <a:r>
                        <a:rPr lang="en-US" dirty="0" err="1"/>
                        <a:t>Payment_id</a:t>
                      </a:r>
                    </a:p>
                  </a:txBody>
                  <a:tcPr/>
                </a:tc>
                <a:tc>
                  <a:txBody>
                    <a:bodyPr/>
                    <a:lstStyle/>
                    <a:p>
                      <a:r>
                        <a:rPr lang="en-US" dirty="0"/>
                        <a:t>Int</a:t>
                      </a:r>
                    </a:p>
                  </a:txBody>
                  <a:tcPr/>
                </a:tc>
                <a:tc>
                  <a:txBody>
                    <a:bodyPr/>
                    <a:lstStyle/>
                    <a:p>
                      <a:endParaRPr lang="en-US"/>
                    </a:p>
                  </a:txBody>
                  <a:tcPr/>
                </a:tc>
                <a:tc>
                  <a:txBody>
                    <a:bodyPr/>
                    <a:lstStyle/>
                    <a:p>
                      <a:r>
                        <a:rPr lang="en-US" dirty="0"/>
                        <a:t>Primary key</a:t>
                      </a:r>
                    </a:p>
                  </a:txBody>
                  <a:tcPr/>
                </a:tc>
                <a:extLst>
                  <a:ext uri="{0D108BD9-81ED-4DB2-BD59-A6C34878D82A}">
                    <a16:rowId xmlns:a16="http://schemas.microsoft.com/office/drawing/2014/main" val="2672138349"/>
                  </a:ext>
                </a:extLst>
              </a:tr>
              <a:tr h="370838">
                <a:tc>
                  <a:txBody>
                    <a:bodyPr/>
                    <a:lstStyle/>
                    <a:p>
                      <a:pPr lvl="0">
                        <a:buNone/>
                      </a:pPr>
                      <a:r>
                        <a:rPr lang="en-US" dirty="0" err="1"/>
                        <a:t>Method_name</a:t>
                      </a:r>
                    </a:p>
                  </a:txBody>
                  <a:tcPr/>
                </a:tc>
                <a:tc>
                  <a:txBody>
                    <a:bodyPr/>
                    <a:lstStyle/>
                    <a:p>
                      <a:pPr lvl="0">
                        <a:buNone/>
                      </a:pPr>
                      <a:r>
                        <a:rPr lang="en-US" dirty="0"/>
                        <a:t>Varchar</a:t>
                      </a:r>
                    </a:p>
                  </a:txBody>
                  <a:tcPr/>
                </a:tc>
                <a:tc>
                  <a:txBody>
                    <a:bodyPr/>
                    <a:lstStyle/>
                    <a:p>
                      <a:pPr lvl="0">
                        <a:buNone/>
                      </a:pPr>
                      <a:r>
                        <a:rPr lang="en-US" dirty="0"/>
                        <a:t>50</a:t>
                      </a:r>
                    </a:p>
                  </a:txBody>
                  <a:tcPr/>
                </a:tc>
                <a:tc>
                  <a:txBody>
                    <a:bodyPr/>
                    <a:lstStyle/>
                    <a:p>
                      <a:pPr lvl="0">
                        <a:buNone/>
                      </a:pPr>
                      <a:r>
                        <a:rPr lang="en-US" dirty="0"/>
                        <a:t>Not null</a:t>
                      </a:r>
                    </a:p>
                  </a:txBody>
                  <a:tcPr/>
                </a:tc>
                <a:extLst>
                  <a:ext uri="{0D108BD9-81ED-4DB2-BD59-A6C34878D82A}">
                    <a16:rowId xmlns:a16="http://schemas.microsoft.com/office/drawing/2014/main" val="2851637677"/>
                  </a:ext>
                </a:extLst>
              </a:tr>
            </a:tbl>
          </a:graphicData>
        </a:graphic>
      </p:graphicFrame>
    </p:spTree>
    <p:extLst>
      <p:ext uri="{BB962C8B-B14F-4D97-AF65-F5344CB8AC3E}">
        <p14:creationId xmlns:p14="http://schemas.microsoft.com/office/powerpoint/2010/main" val="3600972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F9888-A1A5-0AB5-230D-67BD24CF9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415611-0406-DFC0-2E3C-D5213CEE0046}"/>
              </a:ext>
            </a:extLst>
          </p:cNvPr>
          <p:cNvSpPr>
            <a:spLocks noGrp="1"/>
          </p:cNvSpPr>
          <p:nvPr>
            <p:ph type="title"/>
          </p:nvPr>
        </p:nvSpPr>
        <p:spPr>
          <a:xfrm>
            <a:off x="601442" y="268493"/>
            <a:ext cx="10653578" cy="1132258"/>
          </a:xfrm>
        </p:spPr>
        <p:txBody>
          <a:bodyPr/>
          <a:lstStyle/>
          <a:p>
            <a:r>
              <a:rPr lang="en-US" dirty="0"/>
              <a:t>Virgin Trains:</a:t>
            </a:r>
            <a:br>
              <a:rPr lang="en-US" dirty="0"/>
            </a:br>
            <a:r>
              <a:rPr lang="en-US" dirty="0"/>
              <a:t>Tickets table properties</a:t>
            </a:r>
          </a:p>
        </p:txBody>
      </p:sp>
      <p:graphicFrame>
        <p:nvGraphicFramePr>
          <p:cNvPr id="4" name="Content Placeholder 3">
            <a:extLst>
              <a:ext uri="{FF2B5EF4-FFF2-40B4-BE49-F238E27FC236}">
                <a16:creationId xmlns:a16="http://schemas.microsoft.com/office/drawing/2014/main" id="{770FF8A8-50CE-49A1-4DD6-BEF674C0E7E8}"/>
              </a:ext>
            </a:extLst>
          </p:cNvPr>
          <p:cNvGraphicFramePr>
            <a:graphicFrameLocks noGrp="1"/>
          </p:cNvGraphicFramePr>
          <p:nvPr>
            <p:ph idx="1"/>
            <p:extLst>
              <p:ext uri="{D42A27DB-BD31-4B8C-83A1-F6EECF244321}">
                <p14:modId xmlns:p14="http://schemas.microsoft.com/office/powerpoint/2010/main" val="3032468289"/>
              </p:ext>
            </p:extLst>
          </p:nvPr>
        </p:nvGraphicFramePr>
        <p:xfrm>
          <a:off x="605117" y="1524000"/>
          <a:ext cx="10653708" cy="2966704"/>
        </p:xfrm>
        <a:graphic>
          <a:graphicData uri="http://schemas.openxmlformats.org/drawingml/2006/table">
            <a:tbl>
              <a:tblPr firstRow="1" bandRow="1">
                <a:tableStyleId>{5C22544A-7EE6-4342-B048-85BDC9FD1C3A}</a:tableStyleId>
              </a:tblPr>
              <a:tblGrid>
                <a:gridCol w="2663427">
                  <a:extLst>
                    <a:ext uri="{9D8B030D-6E8A-4147-A177-3AD203B41FA5}">
                      <a16:colId xmlns:a16="http://schemas.microsoft.com/office/drawing/2014/main" val="2509053077"/>
                    </a:ext>
                  </a:extLst>
                </a:gridCol>
                <a:gridCol w="2663427">
                  <a:extLst>
                    <a:ext uri="{9D8B030D-6E8A-4147-A177-3AD203B41FA5}">
                      <a16:colId xmlns:a16="http://schemas.microsoft.com/office/drawing/2014/main" val="744614827"/>
                    </a:ext>
                  </a:extLst>
                </a:gridCol>
                <a:gridCol w="2663427">
                  <a:extLst>
                    <a:ext uri="{9D8B030D-6E8A-4147-A177-3AD203B41FA5}">
                      <a16:colId xmlns:a16="http://schemas.microsoft.com/office/drawing/2014/main" val="3872074444"/>
                    </a:ext>
                  </a:extLst>
                </a:gridCol>
                <a:gridCol w="2663427">
                  <a:extLst>
                    <a:ext uri="{9D8B030D-6E8A-4147-A177-3AD203B41FA5}">
                      <a16:colId xmlns:a16="http://schemas.microsoft.com/office/drawing/2014/main" val="3722166966"/>
                    </a:ext>
                  </a:extLst>
                </a:gridCol>
              </a:tblGrid>
              <a:tr h="370838">
                <a:tc>
                  <a:txBody>
                    <a:bodyPr/>
                    <a:lstStyle/>
                    <a:p>
                      <a:pPr lvl="0">
                        <a:buNone/>
                      </a:pPr>
                      <a:r>
                        <a:rPr lang="en-US" dirty="0"/>
                        <a:t>Column name</a:t>
                      </a:r>
                    </a:p>
                  </a:txBody>
                  <a:tcPr/>
                </a:tc>
                <a:tc>
                  <a:txBody>
                    <a:bodyPr/>
                    <a:lstStyle/>
                    <a:p>
                      <a:r>
                        <a:rPr lang="en-US" dirty="0"/>
                        <a:t>Data type</a:t>
                      </a:r>
                    </a:p>
                  </a:txBody>
                  <a:tcPr/>
                </a:tc>
                <a:tc>
                  <a:txBody>
                    <a:bodyPr/>
                    <a:lstStyle/>
                    <a:p>
                      <a:r>
                        <a:rPr lang="en-US" dirty="0"/>
                        <a:t>Length</a:t>
                      </a:r>
                    </a:p>
                  </a:txBody>
                  <a:tcPr/>
                </a:tc>
                <a:tc>
                  <a:txBody>
                    <a:bodyPr/>
                    <a:lstStyle/>
                    <a:p>
                      <a:pPr lvl="0">
                        <a:buNone/>
                      </a:pPr>
                      <a:r>
                        <a:rPr lang="en-US" dirty="0"/>
                        <a:t>Key type</a:t>
                      </a:r>
                    </a:p>
                  </a:txBody>
                  <a:tcPr/>
                </a:tc>
                <a:extLst>
                  <a:ext uri="{0D108BD9-81ED-4DB2-BD59-A6C34878D82A}">
                    <a16:rowId xmlns:a16="http://schemas.microsoft.com/office/drawing/2014/main" val="1776610978"/>
                  </a:ext>
                </a:extLst>
              </a:tr>
              <a:tr h="370838">
                <a:tc>
                  <a:txBody>
                    <a:bodyPr/>
                    <a:lstStyle/>
                    <a:p>
                      <a:r>
                        <a:rPr lang="en-US" dirty="0" err="1"/>
                        <a:t>Ticket_Id</a:t>
                      </a:r>
                    </a:p>
                  </a:txBody>
                  <a:tcPr/>
                </a:tc>
                <a:tc>
                  <a:txBody>
                    <a:bodyPr/>
                    <a:lstStyle/>
                    <a:p>
                      <a:r>
                        <a:rPr lang="en-US" dirty="0"/>
                        <a:t>Int</a:t>
                      </a:r>
                    </a:p>
                  </a:txBody>
                  <a:tcPr/>
                </a:tc>
                <a:tc>
                  <a:txBody>
                    <a:bodyPr/>
                    <a:lstStyle/>
                    <a:p>
                      <a:endParaRPr lang="en-US"/>
                    </a:p>
                  </a:txBody>
                  <a:tcPr/>
                </a:tc>
                <a:tc>
                  <a:txBody>
                    <a:bodyPr/>
                    <a:lstStyle/>
                    <a:p>
                      <a:r>
                        <a:rPr lang="en-US" dirty="0"/>
                        <a:t>Primary key</a:t>
                      </a:r>
                    </a:p>
                  </a:txBody>
                  <a:tcPr/>
                </a:tc>
                <a:extLst>
                  <a:ext uri="{0D108BD9-81ED-4DB2-BD59-A6C34878D82A}">
                    <a16:rowId xmlns:a16="http://schemas.microsoft.com/office/drawing/2014/main" val="2672138349"/>
                  </a:ext>
                </a:extLst>
              </a:tr>
              <a:tr h="370838">
                <a:tc>
                  <a:txBody>
                    <a:bodyPr/>
                    <a:lstStyle/>
                    <a:p>
                      <a:pPr lvl="0">
                        <a:buNone/>
                      </a:pPr>
                      <a:r>
                        <a:rPr lang="en-US" sz="1800" b="0" i="0" u="none" strike="noStrike" noProof="0" dirty="0" err="1">
                          <a:latin typeface="Neue Haas Grotesk Text Pro"/>
                        </a:rPr>
                        <a:t>customer_id</a:t>
                      </a:r>
                      <a:endParaRPr lang="en-US" dirty="0" err="1"/>
                    </a:p>
                  </a:txBody>
                  <a:tcPr/>
                </a:tc>
                <a:tc>
                  <a:txBody>
                    <a:bodyPr/>
                    <a:lstStyle/>
                    <a:p>
                      <a:pPr lvl="0">
                        <a:buNone/>
                      </a:pPr>
                      <a:r>
                        <a:rPr lang="en-US" dirty="0"/>
                        <a:t>Int</a:t>
                      </a:r>
                    </a:p>
                  </a:txBody>
                  <a:tcPr/>
                </a:tc>
                <a:tc>
                  <a:txBody>
                    <a:bodyPr/>
                    <a:lstStyle/>
                    <a:p>
                      <a:pPr lvl="0">
                        <a:buNone/>
                      </a:pPr>
                      <a:endParaRPr lang="en-US" dirty="0"/>
                    </a:p>
                  </a:txBody>
                  <a:tcPr/>
                </a:tc>
                <a:tc>
                  <a:txBody>
                    <a:bodyPr/>
                    <a:lstStyle/>
                    <a:p>
                      <a:pPr lvl="0">
                        <a:buNone/>
                      </a:pPr>
                      <a:r>
                        <a:rPr lang="en-US" dirty="0"/>
                        <a:t>Not null</a:t>
                      </a:r>
                    </a:p>
                  </a:txBody>
                  <a:tcPr/>
                </a:tc>
                <a:extLst>
                  <a:ext uri="{0D108BD9-81ED-4DB2-BD59-A6C34878D82A}">
                    <a16:rowId xmlns:a16="http://schemas.microsoft.com/office/drawing/2014/main" val="2851637677"/>
                  </a:ext>
                </a:extLst>
              </a:tr>
              <a:tr h="370838">
                <a:tc>
                  <a:txBody>
                    <a:bodyPr/>
                    <a:lstStyle/>
                    <a:p>
                      <a:pPr lvl="0">
                        <a:buNone/>
                      </a:pPr>
                      <a:r>
                        <a:rPr lang="en-US" sz="1800" b="0" i="0" u="none" strike="noStrike" noProof="0" dirty="0" err="1">
                          <a:latin typeface="Neue Haas Grotesk Text Pro"/>
                        </a:rPr>
                        <a:t>Route_id</a:t>
                      </a:r>
                      <a:endParaRPr lang="en-US" dirty="0" err="1"/>
                    </a:p>
                  </a:txBody>
                  <a:tcPr/>
                </a:tc>
                <a:tc>
                  <a:txBody>
                    <a:bodyPr/>
                    <a:lstStyle/>
                    <a:p>
                      <a:pPr lvl="0">
                        <a:buNone/>
                      </a:pPr>
                      <a:r>
                        <a:rPr lang="en-US" dirty="0"/>
                        <a:t>Int</a:t>
                      </a:r>
                    </a:p>
                  </a:txBody>
                  <a:tcPr/>
                </a:tc>
                <a:tc>
                  <a:txBody>
                    <a:bodyPr/>
                    <a:lstStyle/>
                    <a:p>
                      <a:pPr lvl="0">
                        <a:buNone/>
                      </a:pPr>
                      <a:endParaRPr lang="en-US" dirty="0"/>
                    </a:p>
                  </a:txBody>
                  <a:tcPr/>
                </a:tc>
                <a:tc>
                  <a:txBody>
                    <a:bodyPr/>
                    <a:lstStyle/>
                    <a:p>
                      <a:pPr lvl="0">
                        <a:buNone/>
                      </a:pPr>
                      <a:r>
                        <a:rPr lang="en-US" dirty="0"/>
                        <a:t>Not null</a:t>
                      </a:r>
                    </a:p>
                  </a:txBody>
                  <a:tcPr/>
                </a:tc>
                <a:extLst>
                  <a:ext uri="{0D108BD9-81ED-4DB2-BD59-A6C34878D82A}">
                    <a16:rowId xmlns:a16="http://schemas.microsoft.com/office/drawing/2014/main" val="1531530960"/>
                  </a:ext>
                </a:extLst>
              </a:tr>
              <a:tr h="370838">
                <a:tc>
                  <a:txBody>
                    <a:bodyPr/>
                    <a:lstStyle/>
                    <a:p>
                      <a:pPr lvl="0">
                        <a:buNone/>
                      </a:pPr>
                      <a:r>
                        <a:rPr lang="en-US" dirty="0"/>
                        <a:t>Purchase-date</a:t>
                      </a:r>
                      <a:endParaRPr lang="en-US" dirty="0" err="1"/>
                    </a:p>
                  </a:txBody>
                  <a:tcPr/>
                </a:tc>
                <a:tc>
                  <a:txBody>
                    <a:bodyPr/>
                    <a:lstStyle/>
                    <a:p>
                      <a:pPr lvl="0">
                        <a:buNone/>
                      </a:pPr>
                      <a:r>
                        <a:rPr lang="en-US" dirty="0"/>
                        <a:t>Date</a:t>
                      </a:r>
                    </a:p>
                  </a:txBody>
                  <a:tcPr/>
                </a:tc>
                <a:tc>
                  <a:txBody>
                    <a:bodyPr/>
                    <a:lstStyle/>
                    <a:p>
                      <a:pPr lvl="0">
                        <a:buNone/>
                      </a:pPr>
                      <a:endParaRPr lang="en-US" dirty="0"/>
                    </a:p>
                  </a:txBody>
                  <a:tcPr/>
                </a:tc>
                <a:tc>
                  <a:txBody>
                    <a:bodyPr/>
                    <a:lstStyle/>
                    <a:p>
                      <a:pPr lvl="0">
                        <a:buNone/>
                      </a:pPr>
                      <a:r>
                        <a:rPr lang="en-US" dirty="0"/>
                        <a:t>Not null</a:t>
                      </a:r>
                    </a:p>
                  </a:txBody>
                  <a:tcPr/>
                </a:tc>
                <a:extLst>
                  <a:ext uri="{0D108BD9-81ED-4DB2-BD59-A6C34878D82A}">
                    <a16:rowId xmlns:a16="http://schemas.microsoft.com/office/drawing/2014/main" val="2822952210"/>
                  </a:ext>
                </a:extLst>
              </a:tr>
              <a:tr h="370838">
                <a:tc>
                  <a:txBody>
                    <a:bodyPr/>
                    <a:lstStyle/>
                    <a:p>
                      <a:pPr lvl="0">
                        <a:buNone/>
                      </a:pPr>
                      <a:r>
                        <a:rPr lang="en-US" dirty="0" err="1"/>
                        <a:t>Sales_channel</a:t>
                      </a:r>
                    </a:p>
                  </a:txBody>
                  <a:tcPr/>
                </a:tc>
                <a:tc>
                  <a:txBody>
                    <a:bodyPr/>
                    <a:lstStyle/>
                    <a:p>
                      <a:pPr lvl="0">
                        <a:buNone/>
                      </a:pPr>
                      <a:r>
                        <a:rPr lang="en-US" dirty="0"/>
                        <a:t>Varchar</a:t>
                      </a:r>
                    </a:p>
                  </a:txBody>
                  <a:tcPr/>
                </a:tc>
                <a:tc>
                  <a:txBody>
                    <a:bodyPr/>
                    <a:lstStyle/>
                    <a:p>
                      <a:pPr lvl="0">
                        <a:buNone/>
                      </a:pPr>
                      <a:r>
                        <a:rPr lang="en-US" dirty="0"/>
                        <a:t>20</a:t>
                      </a:r>
                    </a:p>
                  </a:txBody>
                  <a:tcPr/>
                </a:tc>
                <a:tc>
                  <a:txBody>
                    <a:bodyPr/>
                    <a:lstStyle/>
                    <a:p>
                      <a:pPr lvl="0">
                        <a:buNone/>
                      </a:pPr>
                      <a:endParaRPr lang="en-US" dirty="0"/>
                    </a:p>
                  </a:txBody>
                  <a:tcPr/>
                </a:tc>
                <a:extLst>
                  <a:ext uri="{0D108BD9-81ED-4DB2-BD59-A6C34878D82A}">
                    <a16:rowId xmlns:a16="http://schemas.microsoft.com/office/drawing/2014/main" val="602857336"/>
                  </a:ext>
                </a:extLst>
              </a:tr>
              <a:tr h="370838">
                <a:tc>
                  <a:txBody>
                    <a:bodyPr/>
                    <a:lstStyle/>
                    <a:p>
                      <a:pPr lvl="0">
                        <a:buNone/>
                      </a:pPr>
                      <a:r>
                        <a:rPr lang="en-US" dirty="0"/>
                        <a:t>Price</a:t>
                      </a:r>
                    </a:p>
                  </a:txBody>
                  <a:tcPr/>
                </a:tc>
                <a:tc>
                  <a:txBody>
                    <a:bodyPr/>
                    <a:lstStyle/>
                    <a:p>
                      <a:pPr lvl="0">
                        <a:buNone/>
                      </a:pPr>
                      <a:r>
                        <a:rPr lang="en-US" dirty="0"/>
                        <a:t>Decimal</a:t>
                      </a:r>
                    </a:p>
                  </a:txBody>
                  <a:tcPr/>
                </a:tc>
                <a:tc>
                  <a:txBody>
                    <a:bodyPr/>
                    <a:lstStyle/>
                    <a:p>
                      <a:pPr lvl="0">
                        <a:buNone/>
                      </a:pPr>
                      <a:r>
                        <a:rPr lang="en-US" dirty="0"/>
                        <a:t>10 , 2</a:t>
                      </a:r>
                    </a:p>
                  </a:txBody>
                  <a:tcPr/>
                </a:tc>
                <a:tc>
                  <a:txBody>
                    <a:bodyPr/>
                    <a:lstStyle/>
                    <a:p>
                      <a:pPr lvl="0">
                        <a:buNone/>
                      </a:pPr>
                      <a:endParaRPr lang="en-US" dirty="0"/>
                    </a:p>
                  </a:txBody>
                  <a:tcPr/>
                </a:tc>
                <a:extLst>
                  <a:ext uri="{0D108BD9-81ED-4DB2-BD59-A6C34878D82A}">
                    <a16:rowId xmlns:a16="http://schemas.microsoft.com/office/drawing/2014/main" val="574384093"/>
                  </a:ext>
                </a:extLst>
              </a:tr>
              <a:tr h="370838">
                <a:tc>
                  <a:txBody>
                    <a:bodyPr/>
                    <a:lstStyle/>
                    <a:p>
                      <a:pPr lvl="0">
                        <a:buNone/>
                      </a:pPr>
                      <a:r>
                        <a:rPr lang="en-US" err="1"/>
                        <a:t>Payment_id</a:t>
                      </a:r>
                      <a:endParaRPr lang="en-US" dirty="0" err="1"/>
                    </a:p>
                  </a:txBody>
                  <a:tcPr/>
                </a:tc>
                <a:tc>
                  <a:txBody>
                    <a:bodyPr/>
                    <a:lstStyle/>
                    <a:p>
                      <a:pPr lvl="0">
                        <a:buNone/>
                      </a:pPr>
                      <a:r>
                        <a:rPr lang="en-US" dirty="0"/>
                        <a:t>Int</a:t>
                      </a:r>
                    </a:p>
                  </a:txBody>
                  <a:tcPr/>
                </a:tc>
                <a:tc>
                  <a:txBody>
                    <a:bodyPr/>
                    <a:lstStyle/>
                    <a:p>
                      <a:pPr lvl="0">
                        <a:buNone/>
                      </a:pPr>
                      <a:endParaRPr lang="en-US" dirty="0"/>
                    </a:p>
                  </a:txBody>
                  <a:tcPr/>
                </a:tc>
                <a:tc>
                  <a:txBody>
                    <a:bodyPr/>
                    <a:lstStyle/>
                    <a:p>
                      <a:pPr lvl="0">
                        <a:buNone/>
                      </a:pPr>
                      <a:r>
                        <a:rPr lang="en-US" dirty="0"/>
                        <a:t>Not null</a:t>
                      </a:r>
                    </a:p>
                  </a:txBody>
                  <a:tcPr/>
                </a:tc>
                <a:extLst>
                  <a:ext uri="{0D108BD9-81ED-4DB2-BD59-A6C34878D82A}">
                    <a16:rowId xmlns:a16="http://schemas.microsoft.com/office/drawing/2014/main" val="290247287"/>
                  </a:ext>
                </a:extLst>
              </a:tr>
            </a:tbl>
          </a:graphicData>
        </a:graphic>
      </p:graphicFrame>
      <p:sp>
        <p:nvSpPr>
          <p:cNvPr id="5" name="Title 1">
            <a:extLst>
              <a:ext uri="{FF2B5EF4-FFF2-40B4-BE49-F238E27FC236}">
                <a16:creationId xmlns:a16="http://schemas.microsoft.com/office/drawing/2014/main" id="{164CA63B-B398-2BE5-4981-7DBFE99CD86F}"/>
              </a:ext>
            </a:extLst>
          </p:cNvPr>
          <p:cNvSpPr txBox="1">
            <a:spLocks/>
          </p:cNvSpPr>
          <p:nvPr/>
        </p:nvSpPr>
        <p:spPr>
          <a:xfrm>
            <a:off x="608165" y="4824805"/>
            <a:ext cx="10642373" cy="174858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1600" dirty="0"/>
              <a:t>Constraint:</a:t>
            </a:r>
          </a:p>
          <a:p>
            <a:r>
              <a:rPr lang="en-US" sz="1600" b="0" dirty="0">
                <a:ea typeface="+mj-lt"/>
                <a:cs typeface="+mj-lt"/>
              </a:rPr>
              <a:t>CONSTRAINT </a:t>
            </a:r>
            <a:r>
              <a:rPr lang="en-US" sz="1600" b="0" dirty="0" err="1">
                <a:ea typeface="+mj-lt"/>
                <a:cs typeface="+mj-lt"/>
              </a:rPr>
              <a:t>FK_Tickets_Customer</a:t>
            </a:r>
            <a:r>
              <a:rPr lang="en-US" sz="1600" b="0" dirty="0">
                <a:ea typeface="+mj-lt"/>
                <a:cs typeface="+mj-lt"/>
              </a:rPr>
              <a:t> </a:t>
            </a:r>
            <a:endParaRPr lang="en-US" dirty="0"/>
          </a:p>
          <a:p>
            <a:r>
              <a:rPr lang="en-US" sz="1600" b="0" dirty="0">
                <a:ea typeface="+mj-lt"/>
                <a:cs typeface="+mj-lt"/>
              </a:rPr>
              <a:t> FOREIGN KEY (</a:t>
            </a:r>
            <a:r>
              <a:rPr lang="en-US" sz="1600" b="0" dirty="0" err="1">
                <a:ea typeface="+mj-lt"/>
                <a:cs typeface="+mj-lt"/>
              </a:rPr>
              <a:t>customer_id</a:t>
            </a:r>
            <a:r>
              <a:rPr lang="en-US" sz="1600" b="0" dirty="0">
                <a:ea typeface="+mj-lt"/>
                <a:cs typeface="+mj-lt"/>
              </a:rPr>
              <a:t>) REFERENCES Customers(</a:t>
            </a:r>
            <a:r>
              <a:rPr lang="en-US" sz="1600" b="0" dirty="0" err="1">
                <a:ea typeface="+mj-lt"/>
                <a:cs typeface="+mj-lt"/>
              </a:rPr>
              <a:t>customer_id</a:t>
            </a:r>
            <a:r>
              <a:rPr lang="en-US" sz="1600" b="0" dirty="0">
                <a:ea typeface="+mj-lt"/>
                <a:cs typeface="+mj-lt"/>
              </a:rPr>
              <a:t>),</a:t>
            </a:r>
            <a:endParaRPr lang="en-US" dirty="0"/>
          </a:p>
          <a:p>
            <a:r>
              <a:rPr lang="en-US" sz="1600" b="0" dirty="0">
                <a:ea typeface="+mj-lt"/>
                <a:cs typeface="+mj-lt"/>
              </a:rPr>
              <a:t> CONSTRAINT </a:t>
            </a:r>
            <a:r>
              <a:rPr lang="en-US" sz="1600" b="0" dirty="0" err="1">
                <a:ea typeface="+mj-lt"/>
                <a:cs typeface="+mj-lt"/>
              </a:rPr>
              <a:t>FK_Tickets_Route</a:t>
            </a:r>
            <a:r>
              <a:rPr lang="en-US" sz="1600" b="0" dirty="0">
                <a:ea typeface="+mj-lt"/>
                <a:cs typeface="+mj-lt"/>
              </a:rPr>
              <a:t> </a:t>
            </a:r>
            <a:endParaRPr lang="en-US">
              <a:ea typeface="+mj-lt"/>
              <a:cs typeface="+mj-lt"/>
            </a:endParaRPr>
          </a:p>
          <a:p>
            <a:r>
              <a:rPr lang="en-US" sz="1600" b="0" dirty="0">
                <a:ea typeface="+mj-lt"/>
                <a:cs typeface="+mj-lt"/>
              </a:rPr>
              <a:t> FOREIGN KEY (</a:t>
            </a:r>
            <a:r>
              <a:rPr lang="en-US" sz="1600" b="0" dirty="0" err="1">
                <a:ea typeface="+mj-lt"/>
                <a:cs typeface="+mj-lt"/>
              </a:rPr>
              <a:t>route_id</a:t>
            </a:r>
            <a:r>
              <a:rPr lang="en-US" sz="1600" b="0" dirty="0">
                <a:ea typeface="+mj-lt"/>
                <a:cs typeface="+mj-lt"/>
              </a:rPr>
              <a:t>) REFERENCES Routes(</a:t>
            </a:r>
            <a:r>
              <a:rPr lang="en-US" sz="1600" b="0" dirty="0" err="1">
                <a:ea typeface="+mj-lt"/>
                <a:cs typeface="+mj-lt"/>
              </a:rPr>
              <a:t>route_id</a:t>
            </a:r>
            <a:r>
              <a:rPr lang="en-US" sz="1600" b="0" dirty="0">
                <a:ea typeface="+mj-lt"/>
                <a:cs typeface="+mj-lt"/>
              </a:rPr>
              <a:t>),</a:t>
            </a:r>
            <a:endParaRPr lang="en-US"/>
          </a:p>
          <a:p>
            <a:r>
              <a:rPr lang="en-US" sz="1600" b="0" dirty="0">
                <a:ea typeface="+mj-lt"/>
                <a:cs typeface="+mj-lt"/>
              </a:rPr>
              <a:t>CONSTRAINT </a:t>
            </a:r>
            <a:r>
              <a:rPr lang="en-US" sz="1600" b="0" err="1">
                <a:ea typeface="+mj-lt"/>
                <a:cs typeface="+mj-lt"/>
              </a:rPr>
              <a:t>FK_Tickets_Payment</a:t>
            </a:r>
            <a:r>
              <a:rPr lang="en-US" sz="1600" b="0" dirty="0">
                <a:ea typeface="+mj-lt"/>
                <a:cs typeface="+mj-lt"/>
              </a:rPr>
              <a:t> </a:t>
            </a:r>
            <a:endParaRPr lang="en-US" dirty="0">
              <a:ea typeface="+mj-lt"/>
              <a:cs typeface="+mj-lt"/>
            </a:endParaRPr>
          </a:p>
          <a:p>
            <a:r>
              <a:rPr lang="en-US" sz="1600" b="0" dirty="0">
                <a:ea typeface="+mj-lt"/>
                <a:cs typeface="+mj-lt"/>
              </a:rPr>
              <a:t> FOREIGN KEY (</a:t>
            </a:r>
            <a:r>
              <a:rPr lang="en-US" sz="1600" b="0" dirty="0" err="1">
                <a:ea typeface="+mj-lt"/>
                <a:cs typeface="+mj-lt"/>
              </a:rPr>
              <a:t>payment_id</a:t>
            </a:r>
            <a:r>
              <a:rPr lang="en-US" sz="1600" b="0" dirty="0">
                <a:ea typeface="+mj-lt"/>
                <a:cs typeface="+mj-lt"/>
              </a:rPr>
              <a:t>) REFERENCES </a:t>
            </a:r>
            <a:r>
              <a:rPr lang="en-US" sz="1600" b="0" dirty="0" err="1">
                <a:ea typeface="+mj-lt"/>
                <a:cs typeface="+mj-lt"/>
              </a:rPr>
              <a:t>Payment_Methods</a:t>
            </a:r>
            <a:r>
              <a:rPr lang="en-US" sz="1600" b="0" dirty="0">
                <a:ea typeface="+mj-lt"/>
                <a:cs typeface="+mj-lt"/>
              </a:rPr>
              <a:t>(</a:t>
            </a:r>
            <a:r>
              <a:rPr lang="en-US" sz="1600" b="0" dirty="0" err="1">
                <a:ea typeface="+mj-lt"/>
                <a:cs typeface="+mj-lt"/>
              </a:rPr>
              <a:t>payment_id</a:t>
            </a:r>
            <a:r>
              <a:rPr lang="en-US" sz="1600" b="0" dirty="0">
                <a:ea typeface="+mj-lt"/>
                <a:cs typeface="+mj-lt"/>
              </a:rPr>
              <a:t>)</a:t>
            </a:r>
            <a:endParaRPr lang="en-US"/>
          </a:p>
          <a:p>
            <a:endParaRPr lang="en-US" sz="1600" dirty="0"/>
          </a:p>
        </p:txBody>
      </p:sp>
    </p:spTree>
    <p:extLst>
      <p:ext uri="{BB962C8B-B14F-4D97-AF65-F5344CB8AC3E}">
        <p14:creationId xmlns:p14="http://schemas.microsoft.com/office/powerpoint/2010/main" val="1429668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E9737-B3D6-CFDB-84BA-86EF5668F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2821B-9055-7E78-F020-6E80A5D15DB4}"/>
              </a:ext>
            </a:extLst>
          </p:cNvPr>
          <p:cNvSpPr>
            <a:spLocks noGrp="1"/>
          </p:cNvSpPr>
          <p:nvPr>
            <p:ph type="title"/>
          </p:nvPr>
        </p:nvSpPr>
        <p:spPr>
          <a:xfrm>
            <a:off x="612648" y="481405"/>
            <a:ext cx="10653578" cy="1221904"/>
          </a:xfrm>
        </p:spPr>
        <p:txBody>
          <a:bodyPr>
            <a:normAutofit/>
          </a:bodyPr>
          <a:lstStyle/>
          <a:p>
            <a:r>
              <a:rPr lang="en-US" sz="2400" dirty="0"/>
              <a:t>Virgin Trains:</a:t>
            </a:r>
            <a:br>
              <a:rPr lang="en-US" dirty="0"/>
            </a:br>
            <a:r>
              <a:rPr lang="en-US" err="1"/>
              <a:t>Route_Costs</a:t>
            </a:r>
            <a:r>
              <a:rPr lang="en-US" dirty="0"/>
              <a:t> table properties</a:t>
            </a:r>
          </a:p>
        </p:txBody>
      </p:sp>
      <p:graphicFrame>
        <p:nvGraphicFramePr>
          <p:cNvPr id="4" name="Content Placeholder 3">
            <a:extLst>
              <a:ext uri="{FF2B5EF4-FFF2-40B4-BE49-F238E27FC236}">
                <a16:creationId xmlns:a16="http://schemas.microsoft.com/office/drawing/2014/main" id="{46BEA601-FFF7-5EF7-1A24-2A93EBC23346}"/>
              </a:ext>
            </a:extLst>
          </p:cNvPr>
          <p:cNvGraphicFramePr>
            <a:graphicFrameLocks noGrp="1"/>
          </p:cNvGraphicFramePr>
          <p:nvPr>
            <p:ph idx="1"/>
            <p:extLst>
              <p:ext uri="{D42A27DB-BD31-4B8C-83A1-F6EECF244321}">
                <p14:modId xmlns:p14="http://schemas.microsoft.com/office/powerpoint/2010/main" val="3806844277"/>
              </p:ext>
            </p:extLst>
          </p:nvPr>
        </p:nvGraphicFramePr>
        <p:xfrm>
          <a:off x="612775" y="1857619"/>
          <a:ext cx="10653712" cy="1854192"/>
        </p:xfrm>
        <a:graphic>
          <a:graphicData uri="http://schemas.openxmlformats.org/drawingml/2006/table">
            <a:tbl>
              <a:tblPr firstRow="1" bandRow="1">
                <a:tableStyleId>{5C22544A-7EE6-4342-B048-85BDC9FD1C3A}</a:tableStyleId>
              </a:tblPr>
              <a:tblGrid>
                <a:gridCol w="2663428">
                  <a:extLst>
                    <a:ext uri="{9D8B030D-6E8A-4147-A177-3AD203B41FA5}">
                      <a16:colId xmlns:a16="http://schemas.microsoft.com/office/drawing/2014/main" val="2509053077"/>
                    </a:ext>
                  </a:extLst>
                </a:gridCol>
                <a:gridCol w="2663428">
                  <a:extLst>
                    <a:ext uri="{9D8B030D-6E8A-4147-A177-3AD203B41FA5}">
                      <a16:colId xmlns:a16="http://schemas.microsoft.com/office/drawing/2014/main" val="744614827"/>
                    </a:ext>
                  </a:extLst>
                </a:gridCol>
                <a:gridCol w="2663428">
                  <a:extLst>
                    <a:ext uri="{9D8B030D-6E8A-4147-A177-3AD203B41FA5}">
                      <a16:colId xmlns:a16="http://schemas.microsoft.com/office/drawing/2014/main" val="3872074444"/>
                    </a:ext>
                  </a:extLst>
                </a:gridCol>
                <a:gridCol w="2663428">
                  <a:extLst>
                    <a:ext uri="{9D8B030D-6E8A-4147-A177-3AD203B41FA5}">
                      <a16:colId xmlns:a16="http://schemas.microsoft.com/office/drawing/2014/main" val="3722166966"/>
                    </a:ext>
                  </a:extLst>
                </a:gridCol>
              </a:tblGrid>
              <a:tr h="370839">
                <a:tc>
                  <a:txBody>
                    <a:bodyPr/>
                    <a:lstStyle/>
                    <a:p>
                      <a:pPr lvl="0">
                        <a:buNone/>
                      </a:pPr>
                      <a:r>
                        <a:rPr lang="en-US" dirty="0"/>
                        <a:t>Column name</a:t>
                      </a:r>
                    </a:p>
                  </a:txBody>
                  <a:tcPr/>
                </a:tc>
                <a:tc>
                  <a:txBody>
                    <a:bodyPr/>
                    <a:lstStyle/>
                    <a:p>
                      <a:r>
                        <a:rPr lang="en-US" dirty="0"/>
                        <a:t>Data type</a:t>
                      </a:r>
                    </a:p>
                  </a:txBody>
                  <a:tcPr/>
                </a:tc>
                <a:tc>
                  <a:txBody>
                    <a:bodyPr/>
                    <a:lstStyle/>
                    <a:p>
                      <a:r>
                        <a:rPr lang="en-US" dirty="0"/>
                        <a:t>Length</a:t>
                      </a:r>
                    </a:p>
                  </a:txBody>
                  <a:tcPr/>
                </a:tc>
                <a:tc>
                  <a:txBody>
                    <a:bodyPr/>
                    <a:lstStyle/>
                    <a:p>
                      <a:pPr lvl="0">
                        <a:buNone/>
                      </a:pPr>
                      <a:r>
                        <a:rPr lang="en-US" dirty="0"/>
                        <a:t>Key type</a:t>
                      </a:r>
                    </a:p>
                  </a:txBody>
                  <a:tcPr/>
                </a:tc>
                <a:extLst>
                  <a:ext uri="{0D108BD9-81ED-4DB2-BD59-A6C34878D82A}">
                    <a16:rowId xmlns:a16="http://schemas.microsoft.com/office/drawing/2014/main" val="1776610978"/>
                  </a:ext>
                </a:extLst>
              </a:tr>
              <a:tr h="370839">
                <a:tc>
                  <a:txBody>
                    <a:bodyPr/>
                    <a:lstStyle/>
                    <a:p>
                      <a:r>
                        <a:rPr lang="en-US" dirty="0"/>
                        <a:t>Customer_id</a:t>
                      </a:r>
                      <a:endParaRPr lang="en-US" dirty="0" err="1"/>
                    </a:p>
                  </a:txBody>
                  <a:tcPr/>
                </a:tc>
                <a:tc>
                  <a:txBody>
                    <a:bodyPr/>
                    <a:lstStyle/>
                    <a:p>
                      <a:r>
                        <a:rPr lang="en-US" dirty="0"/>
                        <a:t>Int</a:t>
                      </a:r>
                    </a:p>
                  </a:txBody>
                  <a:tcPr/>
                </a:tc>
                <a:tc>
                  <a:txBody>
                    <a:bodyPr/>
                    <a:lstStyle/>
                    <a:p>
                      <a:endParaRPr lang="en-US"/>
                    </a:p>
                  </a:txBody>
                  <a:tcPr/>
                </a:tc>
                <a:tc>
                  <a:txBody>
                    <a:bodyPr/>
                    <a:lstStyle/>
                    <a:p>
                      <a:r>
                        <a:rPr lang="en-US" dirty="0"/>
                        <a:t>Primary key</a:t>
                      </a:r>
                    </a:p>
                  </a:txBody>
                  <a:tcPr/>
                </a:tc>
                <a:extLst>
                  <a:ext uri="{0D108BD9-81ED-4DB2-BD59-A6C34878D82A}">
                    <a16:rowId xmlns:a16="http://schemas.microsoft.com/office/drawing/2014/main" val="2672138349"/>
                  </a:ext>
                </a:extLst>
              </a:tr>
              <a:tr h="370838">
                <a:tc>
                  <a:txBody>
                    <a:bodyPr/>
                    <a:lstStyle/>
                    <a:p>
                      <a:pPr lvl="0">
                        <a:buNone/>
                      </a:pPr>
                      <a:r>
                        <a:rPr lang="en-US" dirty="0" err="1"/>
                        <a:t>Route_id</a:t>
                      </a:r>
                    </a:p>
                  </a:txBody>
                  <a:tcPr/>
                </a:tc>
                <a:tc>
                  <a:txBody>
                    <a:bodyPr/>
                    <a:lstStyle/>
                    <a:p>
                      <a:pPr lvl="0">
                        <a:buNone/>
                      </a:pPr>
                      <a:r>
                        <a:rPr lang="en-US" dirty="0"/>
                        <a:t>Int</a:t>
                      </a:r>
                    </a:p>
                  </a:txBody>
                  <a:tcPr/>
                </a:tc>
                <a:tc>
                  <a:txBody>
                    <a:bodyPr/>
                    <a:lstStyle/>
                    <a:p>
                      <a:pPr lvl="0">
                        <a:buNone/>
                      </a:pPr>
                      <a:endParaRPr lang="en-US" dirty="0"/>
                    </a:p>
                  </a:txBody>
                  <a:tcPr/>
                </a:tc>
                <a:tc>
                  <a:txBody>
                    <a:bodyPr/>
                    <a:lstStyle/>
                    <a:p>
                      <a:pPr lvl="0">
                        <a:buNone/>
                      </a:pPr>
                      <a:r>
                        <a:rPr lang="en-US" dirty="0"/>
                        <a:t>Not null</a:t>
                      </a:r>
                    </a:p>
                  </a:txBody>
                  <a:tcPr/>
                </a:tc>
                <a:extLst>
                  <a:ext uri="{0D108BD9-81ED-4DB2-BD59-A6C34878D82A}">
                    <a16:rowId xmlns:a16="http://schemas.microsoft.com/office/drawing/2014/main" val="2851637677"/>
                  </a:ext>
                </a:extLst>
              </a:tr>
              <a:tr h="370838">
                <a:tc>
                  <a:txBody>
                    <a:bodyPr/>
                    <a:lstStyle/>
                    <a:p>
                      <a:pPr lvl="0">
                        <a:buNone/>
                      </a:pPr>
                      <a:r>
                        <a:rPr lang="en-US" dirty="0"/>
                        <a:t>Month</a:t>
                      </a:r>
                    </a:p>
                  </a:txBody>
                  <a:tcPr/>
                </a:tc>
                <a:tc>
                  <a:txBody>
                    <a:bodyPr/>
                    <a:lstStyle/>
                    <a:p>
                      <a:pPr lvl="0">
                        <a:buNone/>
                      </a:pPr>
                      <a:r>
                        <a:rPr lang="en-US" dirty="0"/>
                        <a:t>Varchar</a:t>
                      </a:r>
                    </a:p>
                  </a:txBody>
                  <a:tcPr/>
                </a:tc>
                <a:tc>
                  <a:txBody>
                    <a:bodyPr/>
                    <a:lstStyle/>
                    <a:p>
                      <a:pPr lvl="0">
                        <a:buNone/>
                      </a:pPr>
                      <a:r>
                        <a:rPr lang="en-US" dirty="0"/>
                        <a:t>20</a:t>
                      </a:r>
                    </a:p>
                  </a:txBody>
                  <a:tcPr/>
                </a:tc>
                <a:tc>
                  <a:txBody>
                    <a:bodyPr/>
                    <a:lstStyle/>
                    <a:p>
                      <a:pPr lvl="0">
                        <a:buNone/>
                      </a:pPr>
                      <a:r>
                        <a:rPr lang="en-US" dirty="0"/>
                        <a:t>Not null</a:t>
                      </a:r>
                    </a:p>
                  </a:txBody>
                  <a:tcPr/>
                </a:tc>
                <a:extLst>
                  <a:ext uri="{0D108BD9-81ED-4DB2-BD59-A6C34878D82A}">
                    <a16:rowId xmlns:a16="http://schemas.microsoft.com/office/drawing/2014/main" val="1608387832"/>
                  </a:ext>
                </a:extLst>
              </a:tr>
              <a:tr h="370838">
                <a:tc>
                  <a:txBody>
                    <a:bodyPr/>
                    <a:lstStyle/>
                    <a:p>
                      <a:pPr lvl="0">
                        <a:buNone/>
                      </a:pPr>
                      <a:r>
                        <a:rPr lang="en-US" dirty="0" err="1"/>
                        <a:t>Operational_cost</a:t>
                      </a:r>
                    </a:p>
                  </a:txBody>
                  <a:tcPr/>
                </a:tc>
                <a:tc>
                  <a:txBody>
                    <a:bodyPr/>
                    <a:lstStyle/>
                    <a:p>
                      <a:pPr lvl="0">
                        <a:buNone/>
                      </a:pPr>
                      <a:r>
                        <a:rPr lang="en-US" dirty="0"/>
                        <a:t>Decimal</a:t>
                      </a:r>
                    </a:p>
                  </a:txBody>
                  <a:tcPr/>
                </a:tc>
                <a:tc>
                  <a:txBody>
                    <a:bodyPr/>
                    <a:lstStyle/>
                    <a:p>
                      <a:pPr lvl="0">
                        <a:buNone/>
                      </a:pPr>
                      <a:r>
                        <a:rPr lang="en-US" dirty="0"/>
                        <a:t>12 , 2</a:t>
                      </a:r>
                    </a:p>
                  </a:txBody>
                  <a:tcPr/>
                </a:tc>
                <a:tc>
                  <a:txBody>
                    <a:bodyPr/>
                    <a:lstStyle/>
                    <a:p>
                      <a:pPr lvl="0">
                        <a:buNone/>
                      </a:pPr>
                      <a:endParaRPr lang="en-US" dirty="0"/>
                    </a:p>
                  </a:txBody>
                  <a:tcPr/>
                </a:tc>
                <a:extLst>
                  <a:ext uri="{0D108BD9-81ED-4DB2-BD59-A6C34878D82A}">
                    <a16:rowId xmlns:a16="http://schemas.microsoft.com/office/drawing/2014/main" val="3511807766"/>
                  </a:ext>
                </a:extLst>
              </a:tr>
            </a:tbl>
          </a:graphicData>
        </a:graphic>
      </p:graphicFrame>
      <p:sp>
        <p:nvSpPr>
          <p:cNvPr id="5" name="Title 1">
            <a:extLst>
              <a:ext uri="{FF2B5EF4-FFF2-40B4-BE49-F238E27FC236}">
                <a16:creationId xmlns:a16="http://schemas.microsoft.com/office/drawing/2014/main" id="{2D1A3162-F97D-E3B9-DB5B-631399AD2246}"/>
              </a:ext>
            </a:extLst>
          </p:cNvPr>
          <p:cNvSpPr txBox="1">
            <a:spLocks/>
          </p:cNvSpPr>
          <p:nvPr/>
        </p:nvSpPr>
        <p:spPr>
          <a:xfrm>
            <a:off x="462489" y="4197276"/>
            <a:ext cx="10653578" cy="122190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1800" dirty="0"/>
              <a:t>Constraint:</a:t>
            </a:r>
          </a:p>
          <a:p>
            <a:endParaRPr lang="en-US" sz="1800" dirty="0">
              <a:ea typeface="+mj-lt"/>
              <a:cs typeface="+mj-lt"/>
            </a:endParaRPr>
          </a:p>
          <a:p>
            <a:r>
              <a:rPr lang="en-US" sz="1800" b="0" dirty="0">
                <a:ea typeface="+mj-lt"/>
                <a:cs typeface="+mj-lt"/>
              </a:rPr>
              <a:t>CONSTRAINT </a:t>
            </a:r>
            <a:r>
              <a:rPr lang="en-US" sz="1800" b="0" err="1">
                <a:ea typeface="+mj-lt"/>
                <a:cs typeface="+mj-lt"/>
              </a:rPr>
              <a:t>FK_RouteCosts_Route</a:t>
            </a:r>
            <a:r>
              <a:rPr lang="en-US" sz="1800" b="0" dirty="0">
                <a:ea typeface="+mj-lt"/>
                <a:cs typeface="+mj-lt"/>
              </a:rPr>
              <a:t> </a:t>
            </a:r>
            <a:endParaRPr lang="en-US" sz="1800" dirty="0">
              <a:ea typeface="+mj-lt"/>
              <a:cs typeface="+mj-lt"/>
            </a:endParaRPr>
          </a:p>
          <a:p>
            <a:r>
              <a:rPr lang="en-US" sz="1800" b="0" dirty="0">
                <a:ea typeface="+mj-lt"/>
                <a:cs typeface="+mj-lt"/>
              </a:rPr>
              <a:t> FOREIGN KEY (</a:t>
            </a:r>
            <a:r>
              <a:rPr lang="en-US" sz="1800" b="0" dirty="0" err="1">
                <a:ea typeface="+mj-lt"/>
                <a:cs typeface="+mj-lt"/>
              </a:rPr>
              <a:t>route_id</a:t>
            </a:r>
            <a:r>
              <a:rPr lang="en-US" sz="1800" b="0" dirty="0">
                <a:ea typeface="+mj-lt"/>
                <a:cs typeface="+mj-lt"/>
              </a:rPr>
              <a:t>) REFERENCES Routes(</a:t>
            </a:r>
            <a:r>
              <a:rPr lang="en-US" sz="1800" b="0" dirty="0" err="1">
                <a:ea typeface="+mj-lt"/>
                <a:cs typeface="+mj-lt"/>
              </a:rPr>
              <a:t>route_id</a:t>
            </a:r>
            <a:r>
              <a:rPr lang="en-US" sz="1800" b="0" dirty="0">
                <a:ea typeface="+mj-lt"/>
                <a:cs typeface="+mj-lt"/>
              </a:rPr>
              <a:t>)</a:t>
            </a:r>
            <a:endParaRPr lang="en-US" sz="1800"/>
          </a:p>
        </p:txBody>
      </p:sp>
    </p:spTree>
    <p:extLst>
      <p:ext uri="{BB962C8B-B14F-4D97-AF65-F5344CB8AC3E}">
        <p14:creationId xmlns:p14="http://schemas.microsoft.com/office/powerpoint/2010/main" val="3744288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9E536-D933-36D2-3D39-885C739322D0}"/>
              </a:ext>
            </a:extLst>
          </p:cNvPr>
          <p:cNvSpPr>
            <a:spLocks noGrp="1"/>
          </p:cNvSpPr>
          <p:nvPr>
            <p:ph type="title"/>
          </p:nvPr>
        </p:nvSpPr>
        <p:spPr/>
        <p:txBody>
          <a:bodyPr/>
          <a:lstStyle/>
          <a:p>
            <a:r>
              <a:rPr lang="en-US" dirty="0">
                <a:solidFill>
                  <a:srgbClr val="0D0D0D"/>
                </a:solidFill>
                <a:latin typeface="Arial"/>
                <a:cs typeface="Arial"/>
              </a:rPr>
              <a:t>Entity Relationship Diagram (ERD): </a:t>
            </a:r>
            <a:r>
              <a:rPr lang="en-US" err="1">
                <a:solidFill>
                  <a:srgbClr val="0D0D0D"/>
                </a:solidFill>
                <a:latin typeface="Arial"/>
                <a:cs typeface="Arial"/>
              </a:rPr>
              <a:t>Virgin_Train_DB</a:t>
            </a:r>
            <a:endParaRPr lang="en-US" err="1"/>
          </a:p>
        </p:txBody>
      </p:sp>
      <p:sp>
        <p:nvSpPr>
          <p:cNvPr id="3" name="Content Placeholder 2">
            <a:extLst>
              <a:ext uri="{FF2B5EF4-FFF2-40B4-BE49-F238E27FC236}">
                <a16:creationId xmlns:a16="http://schemas.microsoft.com/office/drawing/2014/main" id="{F3A5A29A-ADB2-AAAE-702A-77990E203EC6}"/>
              </a:ext>
            </a:extLst>
          </p:cNvPr>
          <p:cNvSpPr>
            <a:spLocks noGrp="1"/>
          </p:cNvSpPr>
          <p:nvPr>
            <p:ph idx="1"/>
          </p:nvPr>
        </p:nvSpPr>
        <p:spPr>
          <a:xfrm>
            <a:off x="612647" y="1684217"/>
            <a:ext cx="10653579" cy="5178375"/>
          </a:xfrm>
        </p:spPr>
        <p:txBody>
          <a:bodyPr/>
          <a:lstStyle/>
          <a:p>
            <a:endParaRPr lang="en-US"/>
          </a:p>
        </p:txBody>
      </p:sp>
      <p:sp>
        <p:nvSpPr>
          <p:cNvPr id="11" name="Rectangle 10">
            <a:extLst>
              <a:ext uri="{FF2B5EF4-FFF2-40B4-BE49-F238E27FC236}">
                <a16:creationId xmlns:a16="http://schemas.microsoft.com/office/drawing/2014/main" id="{5D2753AC-9253-F04D-7040-2E2C3478E306}"/>
              </a:ext>
            </a:extLst>
          </p:cNvPr>
          <p:cNvSpPr/>
          <p:nvPr/>
        </p:nvSpPr>
        <p:spPr>
          <a:xfrm>
            <a:off x="966094" y="1946188"/>
            <a:ext cx="1871203" cy="10823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0D0D0D"/>
                </a:solidFill>
                <a:latin typeface="Courier New"/>
                <a:ea typeface="+mn-lt"/>
                <a:cs typeface="Courier New"/>
              </a:rPr>
              <a:t>STATIONS</a:t>
            </a:r>
            <a:endParaRPr lang="en-US"/>
          </a:p>
          <a:p>
            <a:pPr algn="ctr"/>
            <a:r>
              <a:rPr lang="en-US" sz="1400" dirty="0" err="1">
                <a:solidFill>
                  <a:srgbClr val="0D0D0D"/>
                </a:solidFill>
                <a:latin typeface="Courier New"/>
                <a:cs typeface="Courier New"/>
              </a:rPr>
              <a:t>Station_id</a:t>
            </a:r>
            <a:r>
              <a:rPr lang="en-US" sz="1400" dirty="0">
                <a:solidFill>
                  <a:srgbClr val="0D0D0D"/>
                </a:solidFill>
                <a:latin typeface="Courier New"/>
                <a:cs typeface="Courier New"/>
              </a:rPr>
              <a:t> (PK)</a:t>
            </a:r>
          </a:p>
          <a:p>
            <a:pPr algn="ctr"/>
            <a:r>
              <a:rPr lang="en-US" sz="1400" dirty="0">
                <a:solidFill>
                  <a:srgbClr val="0D0D0D"/>
                </a:solidFill>
                <a:latin typeface="Courier New"/>
                <a:cs typeface="Courier New"/>
              </a:rPr>
              <a:t>Location</a:t>
            </a:r>
          </a:p>
          <a:p>
            <a:pPr algn="ctr"/>
            <a:endParaRPr lang="en-US" sz="1400" dirty="0">
              <a:solidFill>
                <a:srgbClr val="0D0D0D"/>
              </a:solidFill>
              <a:latin typeface="Courier New"/>
              <a:cs typeface="Courier New"/>
            </a:endParaRPr>
          </a:p>
        </p:txBody>
      </p:sp>
      <p:sp>
        <p:nvSpPr>
          <p:cNvPr id="12" name="Rectangle 11">
            <a:extLst>
              <a:ext uri="{FF2B5EF4-FFF2-40B4-BE49-F238E27FC236}">
                <a16:creationId xmlns:a16="http://schemas.microsoft.com/office/drawing/2014/main" id="{56445836-D44D-8633-2D0F-082E54080E6B}"/>
              </a:ext>
            </a:extLst>
          </p:cNvPr>
          <p:cNvSpPr/>
          <p:nvPr/>
        </p:nvSpPr>
        <p:spPr>
          <a:xfrm>
            <a:off x="966093" y="3825092"/>
            <a:ext cx="2664517" cy="1291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u="sng" dirty="0">
                <a:solidFill>
                  <a:srgbClr val="0D0D0D"/>
                </a:solidFill>
                <a:latin typeface="Courier New"/>
                <a:ea typeface="+mn-lt"/>
                <a:cs typeface="Courier New"/>
              </a:rPr>
              <a:t>Routes</a:t>
            </a:r>
            <a:endParaRPr lang="en-US" dirty="0"/>
          </a:p>
          <a:p>
            <a:pPr algn="ctr"/>
            <a:r>
              <a:rPr lang="en-US" sz="1400" dirty="0" err="1">
                <a:solidFill>
                  <a:srgbClr val="0D0D0D"/>
                </a:solidFill>
                <a:latin typeface="Courier New"/>
                <a:cs typeface="Courier New"/>
              </a:rPr>
              <a:t>Route_id</a:t>
            </a:r>
            <a:r>
              <a:rPr lang="en-US" sz="1400" dirty="0">
                <a:solidFill>
                  <a:srgbClr val="0D0D0D"/>
                </a:solidFill>
                <a:latin typeface="Courier New"/>
                <a:cs typeface="Courier New"/>
              </a:rPr>
              <a:t> (PK)</a:t>
            </a:r>
          </a:p>
          <a:p>
            <a:pPr algn="ctr"/>
            <a:r>
              <a:rPr lang="en-US" sz="1400" dirty="0" err="1">
                <a:solidFill>
                  <a:srgbClr val="0D0D0D"/>
                </a:solidFill>
                <a:latin typeface="Courier New"/>
                <a:cs typeface="Courier New"/>
              </a:rPr>
              <a:t>Start_station_id</a:t>
            </a:r>
            <a:r>
              <a:rPr lang="en-US" sz="1400" dirty="0">
                <a:solidFill>
                  <a:srgbClr val="0D0D0D"/>
                </a:solidFill>
                <a:latin typeface="Courier New"/>
                <a:cs typeface="Courier New"/>
              </a:rPr>
              <a:t> (FK)</a:t>
            </a:r>
          </a:p>
          <a:p>
            <a:pPr algn="ctr"/>
            <a:r>
              <a:rPr lang="en-US" sz="1400" err="1">
                <a:solidFill>
                  <a:srgbClr val="0D0D0D"/>
                </a:solidFill>
                <a:latin typeface="Courier New"/>
                <a:cs typeface="Courier New"/>
              </a:rPr>
              <a:t>End_station_id</a:t>
            </a:r>
            <a:r>
              <a:rPr lang="en-US" sz="1400" dirty="0">
                <a:solidFill>
                  <a:srgbClr val="0D0D0D"/>
                </a:solidFill>
                <a:latin typeface="Courier New"/>
                <a:cs typeface="Courier New"/>
              </a:rPr>
              <a:t> (FK)</a:t>
            </a:r>
          </a:p>
          <a:p>
            <a:pPr algn="ctr"/>
            <a:r>
              <a:rPr lang="en-US" sz="1400" dirty="0" err="1">
                <a:solidFill>
                  <a:srgbClr val="0D0D0D"/>
                </a:solidFill>
                <a:latin typeface="Courier New"/>
                <a:cs typeface="Courier New"/>
              </a:rPr>
              <a:t>Distance_km</a:t>
            </a:r>
          </a:p>
          <a:p>
            <a:pPr algn="ctr"/>
            <a:endParaRPr lang="en-US" sz="1400" dirty="0">
              <a:solidFill>
                <a:srgbClr val="0D0D0D"/>
              </a:solidFill>
              <a:latin typeface="Courier New"/>
              <a:cs typeface="Courier New"/>
            </a:endParaRPr>
          </a:p>
        </p:txBody>
      </p:sp>
      <p:cxnSp>
        <p:nvCxnSpPr>
          <p:cNvPr id="13" name="Straight Arrow Connector 12">
            <a:extLst>
              <a:ext uri="{FF2B5EF4-FFF2-40B4-BE49-F238E27FC236}">
                <a16:creationId xmlns:a16="http://schemas.microsoft.com/office/drawing/2014/main" id="{8901B150-1453-1A83-C71B-3E7B48358941}"/>
              </a:ext>
            </a:extLst>
          </p:cNvPr>
          <p:cNvCxnSpPr/>
          <p:nvPr/>
        </p:nvCxnSpPr>
        <p:spPr>
          <a:xfrm>
            <a:off x="1904184" y="3038294"/>
            <a:ext cx="28002" cy="784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3F516434-A896-5B73-F8E8-0E5793658A25}"/>
              </a:ext>
            </a:extLst>
          </p:cNvPr>
          <p:cNvSpPr/>
          <p:nvPr/>
        </p:nvSpPr>
        <p:spPr>
          <a:xfrm>
            <a:off x="4817847" y="2843886"/>
            <a:ext cx="2236544" cy="22723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u="sng" dirty="0">
                <a:solidFill>
                  <a:srgbClr val="0D0D0D"/>
                </a:solidFill>
                <a:latin typeface="Courier New"/>
                <a:ea typeface="+mn-lt"/>
                <a:cs typeface="Courier New"/>
              </a:rPr>
              <a:t>Tickets</a:t>
            </a:r>
            <a:endParaRPr lang="en-US" dirty="0"/>
          </a:p>
          <a:p>
            <a:pPr algn="ctr"/>
            <a:r>
              <a:rPr lang="en-US" sz="1400" dirty="0" err="1">
                <a:solidFill>
                  <a:srgbClr val="0D0D0D"/>
                </a:solidFill>
                <a:latin typeface="Courier New"/>
                <a:cs typeface="Courier New"/>
              </a:rPr>
              <a:t>Ticket_id</a:t>
            </a:r>
            <a:r>
              <a:rPr lang="en-US" sz="1400" dirty="0">
                <a:solidFill>
                  <a:srgbClr val="0D0D0D"/>
                </a:solidFill>
                <a:latin typeface="Courier New"/>
                <a:cs typeface="Courier New"/>
              </a:rPr>
              <a:t> (PK)</a:t>
            </a:r>
          </a:p>
          <a:p>
            <a:pPr algn="ctr"/>
            <a:r>
              <a:rPr lang="en-US" sz="1400" dirty="0">
                <a:solidFill>
                  <a:srgbClr val="0D0D0D"/>
                </a:solidFill>
                <a:latin typeface="Courier New"/>
                <a:cs typeface="Courier New"/>
              </a:rPr>
              <a:t>Customer_id (FK)</a:t>
            </a:r>
          </a:p>
          <a:p>
            <a:pPr algn="ctr"/>
            <a:r>
              <a:rPr lang="en-US" sz="1400" dirty="0" err="1">
                <a:solidFill>
                  <a:srgbClr val="0D0D0D"/>
                </a:solidFill>
                <a:latin typeface="Courier New"/>
                <a:cs typeface="Courier New"/>
              </a:rPr>
              <a:t>Route_id</a:t>
            </a:r>
            <a:r>
              <a:rPr lang="en-US" sz="1400" dirty="0">
                <a:solidFill>
                  <a:srgbClr val="0D0D0D"/>
                </a:solidFill>
                <a:latin typeface="Courier New"/>
                <a:cs typeface="Courier New"/>
              </a:rPr>
              <a:t> (FK)</a:t>
            </a:r>
          </a:p>
          <a:p>
            <a:pPr algn="ctr"/>
            <a:r>
              <a:rPr lang="en-US" sz="1400" dirty="0" err="1">
                <a:solidFill>
                  <a:srgbClr val="0D0D0D"/>
                </a:solidFill>
                <a:latin typeface="Courier New"/>
                <a:cs typeface="Courier New"/>
              </a:rPr>
              <a:t>Purchase_id</a:t>
            </a:r>
          </a:p>
          <a:p>
            <a:pPr algn="ctr"/>
            <a:r>
              <a:rPr lang="en-US" sz="1400" dirty="0" err="1">
                <a:solidFill>
                  <a:srgbClr val="0D0D0D"/>
                </a:solidFill>
                <a:latin typeface="Courier New"/>
                <a:cs typeface="Courier New"/>
              </a:rPr>
              <a:t>Sales_channel</a:t>
            </a:r>
          </a:p>
          <a:p>
            <a:pPr algn="ctr"/>
            <a:r>
              <a:rPr lang="en-US" sz="1400" dirty="0">
                <a:solidFill>
                  <a:srgbClr val="0D0D0D"/>
                </a:solidFill>
                <a:latin typeface="Courier New"/>
                <a:cs typeface="Courier New"/>
              </a:rPr>
              <a:t>Price</a:t>
            </a:r>
          </a:p>
          <a:p>
            <a:pPr algn="ctr"/>
            <a:r>
              <a:rPr lang="en-US" sz="1400" dirty="0" err="1">
                <a:solidFill>
                  <a:srgbClr val="0D0D0D"/>
                </a:solidFill>
                <a:latin typeface="Courier New"/>
                <a:cs typeface="Courier New"/>
              </a:rPr>
              <a:t>Payment_id</a:t>
            </a:r>
            <a:r>
              <a:rPr lang="en-US" sz="1400" dirty="0">
                <a:solidFill>
                  <a:srgbClr val="0D0D0D"/>
                </a:solidFill>
                <a:latin typeface="Courier New"/>
                <a:cs typeface="Courier New"/>
              </a:rPr>
              <a:t> (FK)</a:t>
            </a:r>
          </a:p>
          <a:p>
            <a:pPr algn="ctr"/>
            <a:endParaRPr lang="en-US" sz="1400" dirty="0">
              <a:solidFill>
                <a:srgbClr val="0D0D0D"/>
              </a:solidFill>
              <a:latin typeface="Courier New"/>
              <a:cs typeface="Courier New"/>
            </a:endParaRPr>
          </a:p>
        </p:txBody>
      </p:sp>
      <p:cxnSp>
        <p:nvCxnSpPr>
          <p:cNvPr id="15" name="Straight Arrow Connector 14">
            <a:extLst>
              <a:ext uri="{FF2B5EF4-FFF2-40B4-BE49-F238E27FC236}">
                <a16:creationId xmlns:a16="http://schemas.microsoft.com/office/drawing/2014/main" id="{A21F6B5A-18B0-DAE0-0C06-40B25F0A5DC6}"/>
              </a:ext>
            </a:extLst>
          </p:cNvPr>
          <p:cNvCxnSpPr/>
          <p:nvPr/>
        </p:nvCxnSpPr>
        <p:spPr>
          <a:xfrm>
            <a:off x="3612349" y="4382424"/>
            <a:ext cx="1176113" cy="28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99F64C8-C3FF-296C-49BD-A56A32B24B2A}"/>
              </a:ext>
            </a:extLst>
          </p:cNvPr>
          <p:cNvSpPr/>
          <p:nvPr/>
        </p:nvSpPr>
        <p:spPr>
          <a:xfrm>
            <a:off x="8022422" y="1946187"/>
            <a:ext cx="2664517" cy="12911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u="sng" dirty="0" err="1">
                <a:solidFill>
                  <a:srgbClr val="0D0D0D"/>
                </a:solidFill>
                <a:latin typeface="Courier New"/>
                <a:ea typeface="+mn-lt"/>
                <a:cs typeface="Courier New"/>
              </a:rPr>
              <a:t>Route_costs</a:t>
            </a:r>
            <a:endParaRPr lang="en-US" dirty="0" err="1"/>
          </a:p>
          <a:p>
            <a:pPr algn="ctr"/>
            <a:r>
              <a:rPr lang="en-US" sz="1400" dirty="0" err="1">
                <a:solidFill>
                  <a:srgbClr val="0D0D0D"/>
                </a:solidFill>
                <a:latin typeface="Courier New"/>
                <a:cs typeface="Courier New"/>
              </a:rPr>
              <a:t>Cost_id</a:t>
            </a:r>
            <a:r>
              <a:rPr lang="en-US" sz="1400" dirty="0">
                <a:solidFill>
                  <a:srgbClr val="0D0D0D"/>
                </a:solidFill>
                <a:latin typeface="Courier New"/>
                <a:cs typeface="Courier New"/>
              </a:rPr>
              <a:t> (PK)</a:t>
            </a:r>
          </a:p>
          <a:p>
            <a:pPr algn="ctr"/>
            <a:r>
              <a:rPr lang="en-US" sz="1400" dirty="0" err="1">
                <a:solidFill>
                  <a:srgbClr val="0D0D0D"/>
                </a:solidFill>
                <a:latin typeface="Courier New"/>
                <a:cs typeface="Courier New"/>
              </a:rPr>
              <a:t>Route_id</a:t>
            </a:r>
            <a:r>
              <a:rPr lang="en-US" sz="1400" dirty="0">
                <a:solidFill>
                  <a:srgbClr val="0D0D0D"/>
                </a:solidFill>
                <a:latin typeface="Courier New"/>
                <a:cs typeface="Courier New"/>
              </a:rPr>
              <a:t> (FK)</a:t>
            </a:r>
          </a:p>
          <a:p>
            <a:pPr algn="ctr"/>
            <a:r>
              <a:rPr lang="en-US" sz="1400" dirty="0">
                <a:solidFill>
                  <a:srgbClr val="0D0D0D"/>
                </a:solidFill>
                <a:latin typeface="Courier New"/>
                <a:cs typeface="Courier New"/>
              </a:rPr>
              <a:t>Month</a:t>
            </a:r>
          </a:p>
          <a:p>
            <a:pPr algn="ctr"/>
            <a:r>
              <a:rPr lang="en-US" sz="1400" dirty="0" err="1">
                <a:solidFill>
                  <a:srgbClr val="0D0D0D"/>
                </a:solidFill>
                <a:latin typeface="Courier New"/>
                <a:cs typeface="Courier New"/>
              </a:rPr>
              <a:t>Operational_cost</a:t>
            </a:r>
            <a:endParaRPr lang="en-US" sz="1400">
              <a:solidFill>
                <a:srgbClr val="0D0D0D"/>
              </a:solidFill>
              <a:latin typeface="Courier New"/>
              <a:cs typeface="Courier New"/>
            </a:endParaRPr>
          </a:p>
          <a:p>
            <a:pPr algn="ctr"/>
            <a:endParaRPr lang="en-US" sz="1400" dirty="0">
              <a:solidFill>
                <a:srgbClr val="0D0D0D"/>
              </a:solidFill>
              <a:latin typeface="Courier New"/>
              <a:cs typeface="Courier New"/>
            </a:endParaRPr>
          </a:p>
        </p:txBody>
      </p:sp>
      <p:sp>
        <p:nvSpPr>
          <p:cNvPr id="17" name="Rectangle 16">
            <a:extLst>
              <a:ext uri="{FF2B5EF4-FFF2-40B4-BE49-F238E27FC236}">
                <a16:creationId xmlns:a16="http://schemas.microsoft.com/office/drawing/2014/main" id="{F141F9ED-C2ED-DFE5-6595-FAA4F2C8ED96}"/>
              </a:ext>
            </a:extLst>
          </p:cNvPr>
          <p:cNvSpPr/>
          <p:nvPr/>
        </p:nvSpPr>
        <p:spPr>
          <a:xfrm>
            <a:off x="8022421" y="3585010"/>
            <a:ext cx="2664517" cy="1520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u="sng" dirty="0">
                <a:solidFill>
                  <a:srgbClr val="0D0D0D"/>
                </a:solidFill>
                <a:latin typeface="Courier New"/>
                <a:cs typeface="Courier New"/>
              </a:rPr>
              <a:t>Customers</a:t>
            </a:r>
          </a:p>
          <a:p>
            <a:pPr algn="ctr"/>
            <a:r>
              <a:rPr lang="en-US" sz="1400" dirty="0">
                <a:solidFill>
                  <a:srgbClr val="0D0D0D"/>
                </a:solidFill>
                <a:latin typeface="Courier New"/>
                <a:cs typeface="Courier New"/>
              </a:rPr>
              <a:t>Customer_id (PK)</a:t>
            </a:r>
          </a:p>
          <a:p>
            <a:pPr algn="ctr"/>
            <a:r>
              <a:rPr lang="en-US" sz="1400" dirty="0" err="1">
                <a:solidFill>
                  <a:srgbClr val="0D0D0D"/>
                </a:solidFill>
                <a:latin typeface="Courier New"/>
                <a:cs typeface="Courier New"/>
              </a:rPr>
              <a:t>First_name</a:t>
            </a:r>
          </a:p>
          <a:p>
            <a:pPr algn="ctr"/>
            <a:r>
              <a:rPr lang="en-US" sz="1400" dirty="0" err="1">
                <a:solidFill>
                  <a:srgbClr val="0D0D0D"/>
                </a:solidFill>
                <a:latin typeface="Courier New"/>
                <a:cs typeface="Courier New"/>
              </a:rPr>
              <a:t>Last_name</a:t>
            </a:r>
          </a:p>
          <a:p>
            <a:pPr algn="ctr"/>
            <a:r>
              <a:rPr lang="en-US" sz="1400" dirty="0">
                <a:solidFill>
                  <a:srgbClr val="0D0D0D"/>
                </a:solidFill>
                <a:latin typeface="Courier New"/>
                <a:cs typeface="Courier New"/>
              </a:rPr>
              <a:t>Email</a:t>
            </a:r>
          </a:p>
          <a:p>
            <a:pPr algn="ctr"/>
            <a:r>
              <a:rPr lang="en-US" sz="1400" dirty="0">
                <a:solidFill>
                  <a:srgbClr val="0D0D0D"/>
                </a:solidFill>
                <a:latin typeface="Courier New"/>
                <a:cs typeface="Courier New"/>
              </a:rPr>
              <a:t>Age</a:t>
            </a:r>
          </a:p>
          <a:p>
            <a:pPr algn="ctr"/>
            <a:endParaRPr lang="en-US" sz="1400" dirty="0">
              <a:solidFill>
                <a:srgbClr val="0D0D0D"/>
              </a:solidFill>
              <a:latin typeface="Courier New"/>
              <a:cs typeface="Courier New"/>
            </a:endParaRPr>
          </a:p>
        </p:txBody>
      </p:sp>
      <p:cxnSp>
        <p:nvCxnSpPr>
          <p:cNvPr id="18" name="Straight Arrow Connector 17">
            <a:extLst>
              <a:ext uri="{FF2B5EF4-FFF2-40B4-BE49-F238E27FC236}">
                <a16:creationId xmlns:a16="http://schemas.microsoft.com/office/drawing/2014/main" id="{9FB9339C-41F2-1E36-10E5-13F173312894}"/>
              </a:ext>
            </a:extLst>
          </p:cNvPr>
          <p:cNvCxnSpPr/>
          <p:nvPr/>
        </p:nvCxnSpPr>
        <p:spPr>
          <a:xfrm>
            <a:off x="6972675" y="4004387"/>
            <a:ext cx="994096" cy="13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3BE8CC5-A03A-E863-AFE1-042898EB9710}"/>
              </a:ext>
            </a:extLst>
          </p:cNvPr>
          <p:cNvSpPr/>
          <p:nvPr/>
        </p:nvSpPr>
        <p:spPr>
          <a:xfrm>
            <a:off x="8314696" y="5338653"/>
            <a:ext cx="1871203" cy="10823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u="sng" dirty="0" err="1">
                <a:solidFill>
                  <a:srgbClr val="0D0D0D"/>
                </a:solidFill>
                <a:latin typeface="Courier New"/>
                <a:cs typeface="Courier New"/>
              </a:rPr>
              <a:t>Payment_methods</a:t>
            </a:r>
          </a:p>
          <a:p>
            <a:pPr algn="ctr"/>
            <a:r>
              <a:rPr lang="en-US" sz="1400" dirty="0" err="1">
                <a:solidFill>
                  <a:srgbClr val="0D0D0D"/>
                </a:solidFill>
                <a:latin typeface="Courier New"/>
                <a:cs typeface="Courier New"/>
              </a:rPr>
              <a:t>Payment_id</a:t>
            </a:r>
            <a:r>
              <a:rPr lang="en-US" sz="1400" dirty="0">
                <a:solidFill>
                  <a:srgbClr val="0D0D0D"/>
                </a:solidFill>
                <a:latin typeface="Courier New"/>
                <a:cs typeface="Courier New"/>
              </a:rPr>
              <a:t> (PK)</a:t>
            </a:r>
          </a:p>
          <a:p>
            <a:pPr algn="ctr"/>
            <a:r>
              <a:rPr lang="en-US" sz="1400" dirty="0" err="1">
                <a:solidFill>
                  <a:srgbClr val="0D0D0D"/>
                </a:solidFill>
                <a:latin typeface="Courier New"/>
                <a:cs typeface="Courier New"/>
              </a:rPr>
              <a:t>Method_name</a:t>
            </a:r>
          </a:p>
          <a:p>
            <a:pPr algn="ctr"/>
            <a:endParaRPr lang="en-US" sz="1400" dirty="0">
              <a:solidFill>
                <a:srgbClr val="0D0D0D"/>
              </a:solidFill>
              <a:latin typeface="Courier New"/>
              <a:cs typeface="Courier New"/>
            </a:endParaRPr>
          </a:p>
        </p:txBody>
      </p:sp>
      <p:cxnSp>
        <p:nvCxnSpPr>
          <p:cNvPr id="22" name="Connector: Elbow 21">
            <a:extLst>
              <a:ext uri="{FF2B5EF4-FFF2-40B4-BE49-F238E27FC236}">
                <a16:creationId xmlns:a16="http://schemas.microsoft.com/office/drawing/2014/main" id="{C0C3F776-6E01-E82E-7832-84BB5A589A18}"/>
              </a:ext>
            </a:extLst>
          </p:cNvPr>
          <p:cNvCxnSpPr/>
          <p:nvPr/>
        </p:nvCxnSpPr>
        <p:spPr>
          <a:xfrm>
            <a:off x="7028680" y="4368422"/>
            <a:ext cx="1218117" cy="166616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ADAD5AB-21E0-22CE-2FA8-6DE08D9EA4DF}"/>
              </a:ext>
            </a:extLst>
          </p:cNvPr>
          <p:cNvCxnSpPr/>
          <p:nvPr/>
        </p:nvCxnSpPr>
        <p:spPr>
          <a:xfrm>
            <a:off x="3262315" y="2422234"/>
            <a:ext cx="14001" cy="1484143"/>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11940E3-7189-4339-C3B9-DB4193C73963}"/>
              </a:ext>
            </a:extLst>
          </p:cNvPr>
          <p:cNvCxnSpPr/>
          <p:nvPr/>
        </p:nvCxnSpPr>
        <p:spPr>
          <a:xfrm>
            <a:off x="3276317" y="2450237"/>
            <a:ext cx="4662451" cy="56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3878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68F959-5C8A-435B-8BDA-77C2EF7497B1}"/>
              </a:ext>
            </a:extLst>
          </p:cNvPr>
          <p:cNvSpPr txBox="1"/>
          <p:nvPr/>
        </p:nvSpPr>
        <p:spPr>
          <a:xfrm>
            <a:off x="2271417" y="2704991"/>
            <a:ext cx="764801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dirty="0"/>
              <a:t>  </a:t>
            </a:r>
            <a:r>
              <a:rPr lang="en-US" sz="5400" dirty="0">
                <a:solidFill>
                  <a:srgbClr val="C00000"/>
                </a:solidFill>
              </a:rPr>
              <a:t>Business Questions</a:t>
            </a:r>
          </a:p>
        </p:txBody>
      </p:sp>
    </p:spTree>
    <p:extLst>
      <p:ext uri="{BB962C8B-B14F-4D97-AF65-F5344CB8AC3E}">
        <p14:creationId xmlns:p14="http://schemas.microsoft.com/office/powerpoint/2010/main" val="1468600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260571-9E5D-617C-275B-30B56EF0D56C}"/>
              </a:ext>
            </a:extLst>
          </p:cNvPr>
          <p:cNvSpPr>
            <a:spLocks noGrp="1"/>
          </p:cNvSpPr>
          <p:nvPr>
            <p:ph type="title"/>
          </p:nvPr>
        </p:nvSpPr>
        <p:spPr>
          <a:xfrm>
            <a:off x="612648" y="1114923"/>
            <a:ext cx="4621553" cy="1360728"/>
          </a:xfrm>
        </p:spPr>
        <p:txBody>
          <a:bodyPr anchor="b">
            <a:normAutofit/>
          </a:bodyPr>
          <a:lstStyle/>
          <a:p>
            <a:r>
              <a:rPr lang="en-US" sz="2800" b="0">
                <a:ea typeface="+mj-lt"/>
                <a:cs typeface="+mj-lt"/>
              </a:rPr>
              <a:t>1. How many tickets were sold online vs at stations each month?</a:t>
            </a:r>
            <a:endParaRPr lang="en-US" sz="2800"/>
          </a:p>
        </p:txBody>
      </p:sp>
      <p:sp>
        <p:nvSpPr>
          <p:cNvPr id="3" name="Content Placeholder 2">
            <a:extLst>
              <a:ext uri="{FF2B5EF4-FFF2-40B4-BE49-F238E27FC236}">
                <a16:creationId xmlns:a16="http://schemas.microsoft.com/office/drawing/2014/main" id="{7F1A16EF-F5F6-BC73-9BE6-DB6F47451647}"/>
              </a:ext>
            </a:extLst>
          </p:cNvPr>
          <p:cNvSpPr>
            <a:spLocks noGrp="1"/>
          </p:cNvSpPr>
          <p:nvPr>
            <p:ph idx="1"/>
          </p:nvPr>
        </p:nvSpPr>
        <p:spPr>
          <a:xfrm>
            <a:off x="612648" y="2584058"/>
            <a:ext cx="4621553" cy="3159018"/>
          </a:xfrm>
        </p:spPr>
        <p:txBody>
          <a:bodyPr vert="horz" lIns="91440" tIns="45720" rIns="91440" bIns="45720" rtlCol="0">
            <a:normAutofit/>
          </a:bodyPr>
          <a:lstStyle/>
          <a:p>
            <a:pPr>
              <a:lnSpc>
                <a:spcPct val="110000"/>
              </a:lnSpc>
            </a:pPr>
            <a:r>
              <a:rPr lang="en-US" sz="1800"/>
              <a:t>Outcome</a:t>
            </a:r>
          </a:p>
          <a:p>
            <a:pPr>
              <a:lnSpc>
                <a:spcPct val="110000"/>
              </a:lnSpc>
            </a:pPr>
            <a:r>
              <a:rPr lang="en-US" sz="1800">
                <a:ea typeface="+mn-lt"/>
                <a:cs typeface="+mn-lt"/>
              </a:rPr>
              <a:t>This question helps identify which sales channel (online or station) customers prefer and how that trend changes over time. By comparing monthly ticket sales, Virgin Trains can measure the effectiveness of digital adoption (e-ticketing, self-service machines) and understand seasonal demand patterns.</a:t>
            </a:r>
          </a:p>
          <a:p>
            <a:pPr>
              <a:lnSpc>
                <a:spcPct val="110000"/>
              </a:lnSpc>
            </a:pPr>
            <a:endParaRPr lang="en-US" sz="1800"/>
          </a:p>
        </p:txBody>
      </p:sp>
      <p:pic>
        <p:nvPicPr>
          <p:cNvPr id="4" name="Picture 3" descr="A screenshot of a computer&#10;&#10;AI-generated content may be incorrect.">
            <a:extLst>
              <a:ext uri="{FF2B5EF4-FFF2-40B4-BE49-F238E27FC236}">
                <a16:creationId xmlns:a16="http://schemas.microsoft.com/office/drawing/2014/main" id="{65D365B5-E721-9281-0062-D1E38F423013}"/>
              </a:ext>
            </a:extLst>
          </p:cNvPr>
          <p:cNvPicPr>
            <a:picLocks noChangeAspect="1"/>
          </p:cNvPicPr>
          <p:nvPr/>
        </p:nvPicPr>
        <p:blipFill>
          <a:blip r:embed="rId2"/>
          <a:stretch>
            <a:fillRect/>
          </a:stretch>
        </p:blipFill>
        <p:spPr>
          <a:xfrm>
            <a:off x="5743453" y="1599042"/>
            <a:ext cx="5837780" cy="4014819"/>
          </a:xfrm>
          <a:prstGeom prst="rect">
            <a:avLst/>
          </a:prstGeom>
        </p:spPr>
      </p:pic>
    </p:spTree>
    <p:extLst>
      <p:ext uri="{BB962C8B-B14F-4D97-AF65-F5344CB8AC3E}">
        <p14:creationId xmlns:p14="http://schemas.microsoft.com/office/powerpoint/2010/main" val="4002740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E643CC-76EC-217B-F16B-5CC74D26F03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01B18E-4A2D-0846-F5CE-422477EBA753}"/>
              </a:ext>
            </a:extLst>
          </p:cNvPr>
          <p:cNvSpPr>
            <a:spLocks noGrp="1"/>
          </p:cNvSpPr>
          <p:nvPr>
            <p:ph type="title"/>
          </p:nvPr>
        </p:nvSpPr>
        <p:spPr>
          <a:xfrm>
            <a:off x="612648" y="1114923"/>
            <a:ext cx="4621553" cy="1360728"/>
          </a:xfrm>
        </p:spPr>
        <p:txBody>
          <a:bodyPr anchor="b">
            <a:normAutofit/>
          </a:bodyPr>
          <a:lstStyle/>
          <a:p>
            <a:r>
              <a:rPr lang="en-US" sz="2300" b="0">
                <a:ea typeface="+mj-lt"/>
                <a:cs typeface="+mj-lt"/>
              </a:rPr>
              <a:t>2. How much total revenue was earned from online ticket sales versus station ticket sales?</a:t>
            </a:r>
            <a:endParaRPr lang="en-US" sz="2300"/>
          </a:p>
        </p:txBody>
      </p:sp>
      <p:sp>
        <p:nvSpPr>
          <p:cNvPr id="3" name="Content Placeholder 2">
            <a:extLst>
              <a:ext uri="{FF2B5EF4-FFF2-40B4-BE49-F238E27FC236}">
                <a16:creationId xmlns:a16="http://schemas.microsoft.com/office/drawing/2014/main" id="{183A374E-2559-D631-9609-E0D109198AC0}"/>
              </a:ext>
            </a:extLst>
          </p:cNvPr>
          <p:cNvSpPr>
            <a:spLocks noGrp="1"/>
          </p:cNvSpPr>
          <p:nvPr>
            <p:ph idx="1"/>
          </p:nvPr>
        </p:nvSpPr>
        <p:spPr>
          <a:xfrm>
            <a:off x="612648" y="2584058"/>
            <a:ext cx="4621553" cy="3159018"/>
          </a:xfrm>
        </p:spPr>
        <p:txBody>
          <a:bodyPr vert="horz" lIns="91440" tIns="45720" rIns="91440" bIns="45720" rtlCol="0">
            <a:normAutofit/>
          </a:bodyPr>
          <a:lstStyle/>
          <a:p>
            <a:pPr>
              <a:lnSpc>
                <a:spcPct val="110000"/>
              </a:lnSpc>
            </a:pPr>
            <a:r>
              <a:rPr lang="en-US" sz="1800"/>
              <a:t>Outcome</a:t>
            </a:r>
          </a:p>
          <a:p>
            <a:pPr>
              <a:lnSpc>
                <a:spcPct val="110000"/>
              </a:lnSpc>
            </a:pPr>
            <a:r>
              <a:rPr lang="en-US" sz="1800">
                <a:ea typeface="+mn-lt"/>
                <a:cs typeface="+mn-lt"/>
              </a:rPr>
              <a:t>This determines which ticket channel generates more income and contributes more to total revenue. It shows whether online sales are not only more popular but also more profitable, helping Virgin Trains decide where to focus marketing and operational improvements.</a:t>
            </a:r>
          </a:p>
          <a:p>
            <a:pPr>
              <a:lnSpc>
                <a:spcPct val="110000"/>
              </a:lnSpc>
            </a:pPr>
            <a:endParaRPr lang="en-US" sz="1800">
              <a:ea typeface="+mn-lt"/>
              <a:cs typeface="+mn-lt"/>
            </a:endParaRPr>
          </a:p>
          <a:p>
            <a:pPr>
              <a:lnSpc>
                <a:spcPct val="110000"/>
              </a:lnSpc>
            </a:pPr>
            <a:endParaRPr lang="en-US" sz="1800"/>
          </a:p>
        </p:txBody>
      </p:sp>
      <p:pic>
        <p:nvPicPr>
          <p:cNvPr id="5" name="Picture 4" descr="A screenshot of a computer&#10;&#10;AI-generated content may be incorrect.">
            <a:extLst>
              <a:ext uri="{FF2B5EF4-FFF2-40B4-BE49-F238E27FC236}">
                <a16:creationId xmlns:a16="http://schemas.microsoft.com/office/drawing/2014/main" id="{591E456B-044F-380C-96E7-A12EE09D45FD}"/>
              </a:ext>
            </a:extLst>
          </p:cNvPr>
          <p:cNvPicPr>
            <a:picLocks noChangeAspect="1"/>
          </p:cNvPicPr>
          <p:nvPr/>
        </p:nvPicPr>
        <p:blipFill>
          <a:blip r:embed="rId2"/>
          <a:stretch>
            <a:fillRect/>
          </a:stretch>
        </p:blipFill>
        <p:spPr>
          <a:xfrm>
            <a:off x="5733014" y="1407432"/>
            <a:ext cx="5837780" cy="3208065"/>
          </a:xfrm>
          <a:prstGeom prst="rect">
            <a:avLst/>
          </a:prstGeom>
        </p:spPr>
      </p:pic>
    </p:spTree>
    <p:extLst>
      <p:ext uri="{BB962C8B-B14F-4D97-AF65-F5344CB8AC3E}">
        <p14:creationId xmlns:p14="http://schemas.microsoft.com/office/powerpoint/2010/main" val="3085238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E5994D-B187-2E27-37DF-A3EB19D935D7}"/>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52B7F4-93F2-3C36-63F9-F49B34D191EC}"/>
              </a:ext>
            </a:extLst>
          </p:cNvPr>
          <p:cNvSpPr>
            <a:spLocks noGrp="1"/>
          </p:cNvSpPr>
          <p:nvPr>
            <p:ph type="title"/>
          </p:nvPr>
        </p:nvSpPr>
        <p:spPr>
          <a:xfrm>
            <a:off x="612648" y="1114923"/>
            <a:ext cx="4621553" cy="1360728"/>
          </a:xfrm>
        </p:spPr>
        <p:txBody>
          <a:bodyPr anchor="b">
            <a:normAutofit/>
          </a:bodyPr>
          <a:lstStyle/>
          <a:p>
            <a:r>
              <a:rPr lang="en-US" sz="2800" b="0">
                <a:ea typeface="+mj-lt"/>
                <a:cs typeface="+mj-lt"/>
              </a:rPr>
              <a:t>3. What is the total revenue generated from ticket sales each month?</a:t>
            </a:r>
            <a:endParaRPr lang="en-US" sz="2800"/>
          </a:p>
        </p:txBody>
      </p:sp>
      <p:sp>
        <p:nvSpPr>
          <p:cNvPr id="3" name="Content Placeholder 2">
            <a:extLst>
              <a:ext uri="{FF2B5EF4-FFF2-40B4-BE49-F238E27FC236}">
                <a16:creationId xmlns:a16="http://schemas.microsoft.com/office/drawing/2014/main" id="{0C2BEB8F-A5A7-2F96-6A14-C100CB78DAB1}"/>
              </a:ext>
            </a:extLst>
          </p:cNvPr>
          <p:cNvSpPr>
            <a:spLocks noGrp="1"/>
          </p:cNvSpPr>
          <p:nvPr>
            <p:ph idx="1"/>
          </p:nvPr>
        </p:nvSpPr>
        <p:spPr>
          <a:xfrm>
            <a:off x="612648" y="2584058"/>
            <a:ext cx="4621553" cy="3159018"/>
          </a:xfrm>
        </p:spPr>
        <p:txBody>
          <a:bodyPr vert="horz" lIns="91440" tIns="45720" rIns="91440" bIns="45720" rtlCol="0">
            <a:normAutofit/>
          </a:bodyPr>
          <a:lstStyle/>
          <a:p>
            <a:r>
              <a:rPr lang="en-US" sz="1800" dirty="0"/>
              <a:t>Outcome</a:t>
            </a:r>
            <a:endParaRPr lang="en-US" sz="1800"/>
          </a:p>
          <a:p>
            <a:r>
              <a:rPr lang="en-US" sz="1800" dirty="0">
                <a:ea typeface="+mn-lt"/>
                <a:cs typeface="+mn-lt"/>
              </a:rPr>
              <a:t>This analysis reveals monthly revenue trends, allowing the company to track performance over time and identify peak and off-peak months. It can also help forecast future revenue and assist in budgeting and capacity planning.</a:t>
            </a:r>
            <a:endParaRPr lang="en-US" sz="1800">
              <a:ea typeface="+mn-lt"/>
              <a:cs typeface="+mn-lt"/>
            </a:endParaRPr>
          </a:p>
          <a:p>
            <a:endParaRPr lang="en-US" sz="1800">
              <a:ea typeface="+mn-lt"/>
              <a:cs typeface="+mn-lt"/>
            </a:endParaRPr>
          </a:p>
          <a:p>
            <a:endParaRPr lang="en-US" sz="1800">
              <a:ea typeface="+mn-lt"/>
              <a:cs typeface="+mn-lt"/>
            </a:endParaRPr>
          </a:p>
          <a:p>
            <a:endParaRPr lang="en-US" sz="1800"/>
          </a:p>
        </p:txBody>
      </p:sp>
      <p:pic>
        <p:nvPicPr>
          <p:cNvPr id="4" name="Picture 3" descr="A screenshot of a computer&#10;&#10;AI-generated content may be incorrect.">
            <a:extLst>
              <a:ext uri="{FF2B5EF4-FFF2-40B4-BE49-F238E27FC236}">
                <a16:creationId xmlns:a16="http://schemas.microsoft.com/office/drawing/2014/main" id="{483CB526-14A2-65EF-FEAA-F1FB72AF7BE1}"/>
              </a:ext>
            </a:extLst>
          </p:cNvPr>
          <p:cNvPicPr>
            <a:picLocks noChangeAspect="1"/>
          </p:cNvPicPr>
          <p:nvPr/>
        </p:nvPicPr>
        <p:blipFill>
          <a:blip r:embed="rId2"/>
          <a:stretch>
            <a:fillRect/>
          </a:stretch>
        </p:blipFill>
        <p:spPr>
          <a:xfrm>
            <a:off x="5639069" y="1110373"/>
            <a:ext cx="5837780" cy="3864816"/>
          </a:xfrm>
          <a:prstGeom prst="rect">
            <a:avLst/>
          </a:prstGeom>
        </p:spPr>
      </p:pic>
    </p:spTree>
    <p:extLst>
      <p:ext uri="{BB962C8B-B14F-4D97-AF65-F5344CB8AC3E}">
        <p14:creationId xmlns:p14="http://schemas.microsoft.com/office/powerpoint/2010/main" val="2116504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585333-FA41-7632-F383-F93F65838BA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245403-C1D1-54DE-E560-E81FA890DC08}"/>
              </a:ext>
            </a:extLst>
          </p:cNvPr>
          <p:cNvSpPr>
            <a:spLocks noGrp="1"/>
          </p:cNvSpPr>
          <p:nvPr>
            <p:ph type="title"/>
          </p:nvPr>
        </p:nvSpPr>
        <p:spPr>
          <a:xfrm>
            <a:off x="612648" y="1114923"/>
            <a:ext cx="4621553" cy="1360728"/>
          </a:xfrm>
        </p:spPr>
        <p:txBody>
          <a:bodyPr anchor="b">
            <a:normAutofit/>
          </a:bodyPr>
          <a:lstStyle/>
          <a:p>
            <a:r>
              <a:rPr lang="en-US" sz="2800" b="0" dirty="0">
                <a:ea typeface="+mj-lt"/>
                <a:cs typeface="+mj-lt"/>
              </a:rPr>
              <a:t>4. Which payment methods generate the highest revenue?</a:t>
            </a:r>
            <a:endParaRPr lang="en-US" sz="2800"/>
          </a:p>
        </p:txBody>
      </p:sp>
      <p:sp>
        <p:nvSpPr>
          <p:cNvPr id="3" name="Content Placeholder 2">
            <a:extLst>
              <a:ext uri="{FF2B5EF4-FFF2-40B4-BE49-F238E27FC236}">
                <a16:creationId xmlns:a16="http://schemas.microsoft.com/office/drawing/2014/main" id="{10D4F0F9-18CE-086E-74E0-664070D9B6EF}"/>
              </a:ext>
            </a:extLst>
          </p:cNvPr>
          <p:cNvSpPr>
            <a:spLocks noGrp="1"/>
          </p:cNvSpPr>
          <p:nvPr>
            <p:ph idx="1"/>
          </p:nvPr>
        </p:nvSpPr>
        <p:spPr>
          <a:xfrm>
            <a:off x="612648" y="2584058"/>
            <a:ext cx="4621553" cy="3159018"/>
          </a:xfrm>
        </p:spPr>
        <p:txBody>
          <a:bodyPr vert="horz" lIns="91440" tIns="45720" rIns="91440" bIns="45720" rtlCol="0">
            <a:normAutofit/>
          </a:bodyPr>
          <a:lstStyle/>
          <a:p>
            <a:r>
              <a:rPr lang="en-US" sz="1800" dirty="0">
                <a:ea typeface="+mn-lt"/>
                <a:cs typeface="+mn-lt"/>
              </a:rPr>
              <a:t>This question highlights customer payment preferences (e.g., credit card, debit card, mobile payments, cash) and determines which methods are linked to higher-value transactions. Virgin Trains can use this information to promote convenient payment options and possibly reduce transaction costs.</a:t>
            </a:r>
          </a:p>
          <a:p>
            <a:endParaRPr lang="en-US" sz="1800" dirty="0">
              <a:ea typeface="+mn-lt"/>
              <a:cs typeface="+mn-lt"/>
            </a:endParaRPr>
          </a:p>
          <a:p>
            <a:endParaRPr lang="en-US" sz="1800">
              <a:ea typeface="+mn-lt"/>
              <a:cs typeface="+mn-lt"/>
            </a:endParaRPr>
          </a:p>
          <a:p>
            <a:endParaRPr lang="en-US" sz="1800">
              <a:ea typeface="+mn-lt"/>
              <a:cs typeface="+mn-lt"/>
            </a:endParaRPr>
          </a:p>
          <a:p>
            <a:endParaRPr lang="en-US" sz="1800"/>
          </a:p>
        </p:txBody>
      </p:sp>
      <p:pic>
        <p:nvPicPr>
          <p:cNvPr id="7" name="Picture 6" descr="A screenshot of a computer&#10;&#10;AI-generated content may be incorrect.">
            <a:extLst>
              <a:ext uri="{FF2B5EF4-FFF2-40B4-BE49-F238E27FC236}">
                <a16:creationId xmlns:a16="http://schemas.microsoft.com/office/drawing/2014/main" id="{5645DC66-BC29-9CF8-32D2-F39F59F746F9}"/>
              </a:ext>
            </a:extLst>
          </p:cNvPr>
          <p:cNvPicPr>
            <a:picLocks noChangeAspect="1"/>
          </p:cNvPicPr>
          <p:nvPr/>
        </p:nvPicPr>
        <p:blipFill>
          <a:blip r:embed="rId2"/>
          <a:stretch>
            <a:fillRect/>
          </a:stretch>
        </p:blipFill>
        <p:spPr>
          <a:xfrm>
            <a:off x="5691261" y="1252257"/>
            <a:ext cx="5837780" cy="3831567"/>
          </a:xfrm>
          <a:prstGeom prst="rect">
            <a:avLst/>
          </a:prstGeom>
        </p:spPr>
      </p:pic>
    </p:spTree>
    <p:extLst>
      <p:ext uri="{BB962C8B-B14F-4D97-AF65-F5344CB8AC3E}">
        <p14:creationId xmlns:p14="http://schemas.microsoft.com/office/powerpoint/2010/main" val="1258511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D68893-F812-8761-69A2-3A859B53750F}"/>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A71260-C081-D73D-0375-53BD896F03CE}"/>
              </a:ext>
            </a:extLst>
          </p:cNvPr>
          <p:cNvSpPr>
            <a:spLocks noGrp="1"/>
          </p:cNvSpPr>
          <p:nvPr>
            <p:ph type="title"/>
          </p:nvPr>
        </p:nvSpPr>
        <p:spPr>
          <a:xfrm>
            <a:off x="612648" y="1114923"/>
            <a:ext cx="4621553" cy="1360728"/>
          </a:xfrm>
        </p:spPr>
        <p:txBody>
          <a:bodyPr anchor="b">
            <a:normAutofit/>
          </a:bodyPr>
          <a:lstStyle/>
          <a:p>
            <a:r>
              <a:rPr lang="en-US" b="0">
                <a:ea typeface="+mj-lt"/>
                <a:cs typeface="+mj-lt"/>
              </a:rPr>
              <a:t>5. Which routes are the most profitable?</a:t>
            </a:r>
            <a:endParaRPr lang="en-US" dirty="0"/>
          </a:p>
        </p:txBody>
      </p:sp>
      <p:sp>
        <p:nvSpPr>
          <p:cNvPr id="3" name="Content Placeholder 2">
            <a:extLst>
              <a:ext uri="{FF2B5EF4-FFF2-40B4-BE49-F238E27FC236}">
                <a16:creationId xmlns:a16="http://schemas.microsoft.com/office/drawing/2014/main" id="{BA5AEA4B-EFA2-DB33-4E08-58CDABC097FE}"/>
              </a:ext>
            </a:extLst>
          </p:cNvPr>
          <p:cNvSpPr>
            <a:spLocks noGrp="1"/>
          </p:cNvSpPr>
          <p:nvPr>
            <p:ph idx="1"/>
          </p:nvPr>
        </p:nvSpPr>
        <p:spPr>
          <a:xfrm>
            <a:off x="612648" y="2584058"/>
            <a:ext cx="4621553" cy="3159018"/>
          </a:xfrm>
        </p:spPr>
        <p:txBody>
          <a:bodyPr vert="horz" lIns="91440" tIns="45720" rIns="91440" bIns="45720" rtlCol="0">
            <a:normAutofit/>
          </a:bodyPr>
          <a:lstStyle/>
          <a:p>
            <a:r>
              <a:rPr lang="en-US" sz="1800" dirty="0">
                <a:ea typeface="+mn-lt"/>
                <a:cs typeface="+mn-lt"/>
              </a:rPr>
              <a:t>This question identifies the most and least profitable routes by comparing total revenue and operating costs for each route. The results can help Virgin Trains allocate resources efficiently, adjust pricing, or increase services on high-performing routes.</a:t>
            </a:r>
            <a:endParaRPr lang="en-US" sz="1800" dirty="0"/>
          </a:p>
        </p:txBody>
      </p:sp>
      <p:pic>
        <p:nvPicPr>
          <p:cNvPr id="6" name="Picture 5" descr="A screenshot of a computer&#10;&#10;AI-generated content may be incorrect.">
            <a:extLst>
              <a:ext uri="{FF2B5EF4-FFF2-40B4-BE49-F238E27FC236}">
                <a16:creationId xmlns:a16="http://schemas.microsoft.com/office/drawing/2014/main" id="{A4A57A8D-0D1F-2519-3309-C8CDB329B88E}"/>
              </a:ext>
            </a:extLst>
          </p:cNvPr>
          <p:cNvPicPr>
            <a:picLocks noChangeAspect="1"/>
          </p:cNvPicPr>
          <p:nvPr/>
        </p:nvPicPr>
        <p:blipFill>
          <a:blip r:embed="rId2"/>
          <a:stretch>
            <a:fillRect/>
          </a:stretch>
        </p:blipFill>
        <p:spPr>
          <a:xfrm>
            <a:off x="5440740" y="583667"/>
            <a:ext cx="5837780" cy="4688581"/>
          </a:xfrm>
          <a:prstGeom prst="rect">
            <a:avLst/>
          </a:prstGeom>
        </p:spPr>
      </p:pic>
    </p:spTree>
    <p:extLst>
      <p:ext uri="{BB962C8B-B14F-4D97-AF65-F5344CB8AC3E}">
        <p14:creationId xmlns:p14="http://schemas.microsoft.com/office/powerpoint/2010/main" val="1088849105"/>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VanillaVTI</vt:lpstr>
      <vt:lpstr>Virgin Trains DB for current year</vt:lpstr>
      <vt:lpstr>Virgin Trains: List of tables </vt:lpstr>
      <vt:lpstr>Virgin Trains: Stations table properties</vt:lpstr>
      <vt:lpstr>Virgin Trains: Routes table properties</vt:lpstr>
      <vt:lpstr>Virgin Trains: Customers table properties</vt:lpstr>
      <vt:lpstr>Virgin Trains: Payment_methods table properties</vt:lpstr>
      <vt:lpstr>Virgin Trains: Tickets table properties</vt:lpstr>
      <vt:lpstr>Virgin Trains: Route_Costs table properties</vt:lpstr>
      <vt:lpstr>Entity Relationship Diagram (ERD): Virgin_Train_DB</vt:lpstr>
      <vt:lpstr>PowerPoint Presentation</vt:lpstr>
      <vt:lpstr>1. How many tickets were sold online vs at stations each month?</vt:lpstr>
      <vt:lpstr>2. How much total revenue was earned from online ticket sales versus station ticket sales?</vt:lpstr>
      <vt:lpstr>3. What is the total revenue generated from ticket sales each month?</vt:lpstr>
      <vt:lpstr>4. Which payment methods generate the highest revenue?</vt:lpstr>
      <vt:lpstr>5. Which routes are the most profitable?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447</cp:revision>
  <dcterms:created xsi:type="dcterms:W3CDTF">2025-11-02T16:32:40Z</dcterms:created>
  <dcterms:modified xsi:type="dcterms:W3CDTF">2025-11-03T04:17:06Z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0cf1ce-8cdf-4ab4-bc8c-1b18f9d490a2_Enabled">
    <vt:lpwstr>true</vt:lpwstr>
  </property>
  <property fmtid="{D5CDD505-2E9C-101B-9397-08002B2CF9AE}" pid="3" name="MSIP_Label_d50cf1ce-8cdf-4ab4-bc8c-1b18f9d490a2_SetDate">
    <vt:lpwstr>2025-11-02T16:32:48Z</vt:lpwstr>
  </property>
  <property fmtid="{D5CDD505-2E9C-101B-9397-08002B2CF9AE}" pid="4" name="MSIP_Label_d50cf1ce-8cdf-4ab4-bc8c-1b18f9d490a2_Method">
    <vt:lpwstr>Standard</vt:lpwstr>
  </property>
  <property fmtid="{D5CDD505-2E9C-101B-9397-08002B2CF9AE}" pid="5" name="MSIP_Label_d50cf1ce-8cdf-4ab4-bc8c-1b18f9d490a2_Name">
    <vt:lpwstr>General</vt:lpwstr>
  </property>
  <property fmtid="{D5CDD505-2E9C-101B-9397-08002B2CF9AE}" pid="6" name="MSIP_Label_d50cf1ce-8cdf-4ab4-bc8c-1b18f9d490a2_SiteId">
    <vt:lpwstr>8f11c6f4-648e-4c0c-bb99-96e8408a8e2a</vt:lpwstr>
  </property>
  <property fmtid="{D5CDD505-2E9C-101B-9397-08002B2CF9AE}" pid="7" name="MSIP_Label_d50cf1ce-8cdf-4ab4-bc8c-1b18f9d490a2_ActionId">
    <vt:lpwstr>70df78a6-48e7-4647-8730-4a96182f14d0</vt:lpwstr>
  </property>
  <property fmtid="{D5CDD505-2E9C-101B-9397-08002B2CF9AE}" pid="8" name="MSIP_Label_d50cf1ce-8cdf-4ab4-bc8c-1b18f9d490a2_ContentBits">
    <vt:lpwstr>2</vt:lpwstr>
  </property>
  <property fmtid="{D5CDD505-2E9C-101B-9397-08002B2CF9AE}" pid="9" name="MSIP_Label_d50cf1ce-8cdf-4ab4-bc8c-1b18f9d490a2_Tag">
    <vt:lpwstr>10, 3, 0, 2</vt:lpwstr>
  </property>
  <property fmtid="{D5CDD505-2E9C-101B-9397-08002B2CF9AE}" pid="10" name="ClassificationContentMarkingFooterLocations">
    <vt:lpwstr>office theme:8</vt:lpwstr>
  </property>
  <property fmtid="{D5CDD505-2E9C-101B-9397-08002B2CF9AE}" pid="11" name="ClassificationContentMarkingFooterText">
    <vt:lpwstr>Classification: General</vt:lpwstr>
  </property>
</Properties>
</file>